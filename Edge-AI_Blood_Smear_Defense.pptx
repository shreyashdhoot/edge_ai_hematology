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Calibri"/>
              </a:defRPr>
            </a:pPr>
            <a:r>
              <a:rPr sz="1200" b="0" i="0" u="none" strike="noStrike">
                <a:solidFill>
                  <a:srgbClr val="2B2B2B"/>
                </a:solidFill>
                <a:latin typeface="Calibri"/>
              </a:rPr>
              <a:t>Per-class detection metrics (IoU 0.5)</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5E1A2E"/>
            </a:solidFill>
            <a:effectLst/>
          </c:spPr>
          <c:invertIfNegative val="0"/>
          <c:dLbls>
            <c:numFmt formatCode="0.0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Sheet1!$A$2:$A$4</c:f>
              <c:multiLvlStrCache>
                <c:ptCount val="3"/>
                <c:lvl>
                  <c:pt idx="0">
                    <c:v>WBC</c:v>
                  </c:pt>
                  <c:pt idx="1">
                    <c:v>Platelets</c:v>
                  </c:pt>
                  <c:pt idx="2">
                    <c:v>RBC</c:v>
                  </c:pt>
                </c:lvl>
              </c:multiLvlStrCache>
            </c:multiLvlStrRef>
          </c:cat>
          <c:val>
            <c:numRef>
              <c:f>Sheet1!$B$2:$B$4</c:f>
              <c:numCache>
                <c:formatCode>General</c:formatCode>
                <c:ptCount val="3"/>
                <c:pt idx="0">
                  <c:v>0.954</c:v>
                </c:pt>
                <c:pt idx="1">
                  <c:v>0.783</c:v>
                </c:pt>
                <c:pt idx="2">
                  <c:v>0.496</c:v>
                </c:pt>
              </c:numCache>
            </c:numRef>
          </c:val>
        </c:ser>
        <c:ser>
          <c:idx val="1"/>
          <c:order val="1"/>
          <c:tx>
            <c:strRef>
              <c:f>Sheet1!$C$1</c:f>
              <c:strCache>
                <c:ptCount val="1"/>
                <c:pt idx="0">
                  <c:v>Recall</c:v>
                </c:pt>
              </c:strCache>
            </c:strRef>
          </c:tx>
          <c:spPr>
            <a:solidFill>
              <a:srgbClr val="B3243B"/>
            </a:solidFill>
            <a:effectLst/>
          </c:spPr>
          <c:invertIfNegative val="0"/>
          <c:dLbls>
            <c:numFmt formatCode="0.0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Sheet1!$A$2:$A$4</c:f>
              <c:multiLvlStrCache>
                <c:ptCount val="3"/>
                <c:lvl>
                  <c:pt idx="0">
                    <c:v>WBC</c:v>
                  </c:pt>
                  <c:pt idx="1">
                    <c:v>Platelets</c:v>
                  </c:pt>
                  <c:pt idx="2">
                    <c:v>RBC</c:v>
                  </c:pt>
                </c:lvl>
              </c:multiLvlStrCache>
            </c:multiLvlStrRef>
          </c:cat>
          <c:val>
            <c:numRef>
              <c:f>Sheet1!$C$2:$C$4</c:f>
              <c:numCache>
                <c:formatCode>General</c:formatCode>
                <c:ptCount val="3"/>
                <c:pt idx="0">
                  <c:v>0.997</c:v>
                </c:pt>
                <c:pt idx="1">
                  <c:v>0.917</c:v>
                </c:pt>
                <c:pt idx="2">
                  <c:v>0.958</c:v>
                </c:pt>
              </c:numCache>
            </c:numRef>
          </c:val>
        </c:ser>
        <c:ser>
          <c:idx val="2"/>
          <c:order val="2"/>
          <c:tx>
            <c:strRef>
              <c:f>Sheet1!$D$1</c:f>
              <c:strCache>
                <c:ptCount val="1"/>
                <c:pt idx="0">
                  <c:v>F1-score</c:v>
                </c:pt>
              </c:strCache>
            </c:strRef>
          </c:tx>
          <c:spPr>
            <a:solidFill>
              <a:srgbClr val="0E7C86"/>
            </a:solidFill>
            <a:effectLst/>
          </c:spPr>
          <c:invertIfNegative val="0"/>
          <c:dLbls>
            <c:numFmt formatCode="0.0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Sheet1!$A$2:$A$4</c:f>
              <c:multiLvlStrCache>
                <c:ptCount val="3"/>
                <c:lvl>
                  <c:pt idx="0">
                    <c:v>WBC</c:v>
                  </c:pt>
                  <c:pt idx="1">
                    <c:v>Platelets</c:v>
                  </c:pt>
                  <c:pt idx="2">
                    <c:v>RBC</c:v>
                  </c:pt>
                </c:lvl>
              </c:multiLvlStrCache>
            </c:multiLvlStrRef>
          </c:cat>
          <c:val>
            <c:numRef>
              <c:f>Sheet1!$D$2:$D$4</c:f>
              <c:numCache>
                <c:formatCode>General</c:formatCode>
                <c:ptCount val="3"/>
                <c:pt idx="0">
                  <c:v>0.975</c:v>
                </c:pt>
                <c:pt idx="1">
                  <c:v>0.844</c:v>
                </c:pt>
                <c:pt idx="2">
                  <c:v>0.654</c:v>
                </c:pt>
              </c:numCache>
            </c:numRef>
          </c:val>
        </c:ser>
        <c:dLbls>
          <c:numFmt formatCode="0.0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5E5E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2B2B2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Calibri"/>
              </a:defRPr>
            </a:pPr>
            <a:r>
              <a:rPr sz="1200" b="0" i="0" u="none" strike="noStrike">
                <a:solidFill>
                  <a:srgbClr val="2B2B2B"/>
                </a:solidFill>
                <a:latin typeface="Calibri"/>
              </a:rPr>
              <a:t>F1-score under domain shift</a:t>
            </a:r>
          </a:p>
        </c:rich>
      </c:tx>
      <c:layout/>
      <c:overlay val="0"/>
    </c:title>
    <c:autoTitleDeleted val="0"/>
    <c:plotArea>
      <c:layout/>
      <c:barChart>
        <c:barDir val="col"/>
        <c:grouping val="clustered"/>
        <c:varyColors val="0"/>
        <c:ser>
          <c:idx val="0"/>
          <c:order val="0"/>
          <c:tx>
            <c:strRef>
              <c:f>Sheet1!$B$1</c:f>
              <c:strCache>
                <c:ptCount val="1"/>
                <c:pt idx="0">
                  <c:v>BCCD (in-domain)</c:v>
                </c:pt>
              </c:strCache>
            </c:strRef>
          </c:tx>
          <c:spPr>
            <a:solidFill>
              <a:srgbClr val="5E1A2E"/>
            </a:solidFill>
            <a:effectLst/>
          </c:spPr>
          <c:invertIfNegative val="0"/>
          <c:dLbls>
            <c:numFmt formatCode="0.00"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cat>
            <c:multiLvlStrRef>
              <c:f>Sheet1!$A$2:$A$3</c:f>
              <c:multiLvlStrCache>
                <c:ptCount val="2"/>
                <c:lvl>
                  <c:pt idx="0">
                    <c:v>WBC F1</c:v>
                  </c:pt>
                  <c:pt idx="1">
                    <c:v>Platelet F1</c:v>
                  </c:pt>
                </c:lvl>
              </c:multiLvlStrCache>
            </c:multiLvlStrRef>
          </c:cat>
          <c:val>
            <c:numRef>
              <c:f>Sheet1!$B$2:$B$3</c:f>
              <c:numCache>
                <c:formatCode>General</c:formatCode>
                <c:ptCount val="2"/>
                <c:pt idx="0">
                  <c:v>0.98</c:v>
                </c:pt>
                <c:pt idx="1">
                  <c:v>0.84</c:v>
                </c:pt>
              </c:numCache>
            </c:numRef>
          </c:val>
        </c:ser>
        <c:ser>
          <c:idx val="1"/>
          <c:order val="1"/>
          <c:tx>
            <c:strRef>
              <c:f>Sheet1!$C$1</c:f>
              <c:strCache>
                <c:ptCount val="1"/>
                <c:pt idx="0">
                  <c:v>Clinical 72 (zero-shot)</c:v>
                </c:pt>
              </c:strCache>
            </c:strRef>
          </c:tx>
          <c:spPr>
            <a:solidFill>
              <a:srgbClr val="B3243B"/>
            </a:solidFill>
            <a:effectLst/>
          </c:spPr>
          <c:invertIfNegative val="0"/>
          <c:dLbls>
            <c:numFmt formatCode="0.00"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cat>
            <c:multiLvlStrRef>
              <c:f>Sheet1!$A$2:$A$3</c:f>
              <c:multiLvlStrCache>
                <c:ptCount val="2"/>
                <c:lvl>
                  <c:pt idx="0">
                    <c:v>WBC F1</c:v>
                  </c:pt>
                  <c:pt idx="1">
                    <c:v>Platelet F1</c:v>
                  </c:pt>
                </c:lvl>
              </c:multiLvlStrCache>
            </c:multiLvlStrRef>
          </c:cat>
          <c:val>
            <c:numRef>
              <c:f>Sheet1!$C$2:$C$3</c:f>
              <c:numCache>
                <c:formatCode>General</c:formatCode>
                <c:ptCount val="2"/>
                <c:pt idx="0">
                  <c:v>0.82</c:v>
                </c:pt>
                <c:pt idx="1">
                  <c:v>0.17</c:v>
                </c:pt>
              </c:numCache>
            </c:numRef>
          </c:val>
        </c:ser>
        <c:dLbls>
          <c:numFmt formatCode="0.00"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5E5E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2B2B2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Hematology testing is the gateway to diagnosing anemia, leukemia, sepsis and thrombocytopenia. Automated analyzers are absent in primary health centers, rural clinics and disaster zones. Manual smear reading is the gold standard fallback but is slow and subjective.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YOLOv8n and not UNet or Mask R-CNN: edge latency was the primary design constraint. A field has over 100 cells; Mask R-CNN or UNet would need over 2,500 ms per frame on the Pi's ARM CPU, precluding a live viewfinder. YOLOv8n gives anchor-free box regression in 245 ms with 3.2M parameters, while keeping 0.98 F1 on leukocytes.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RBC ICC is only 0.112 despite 0.96 recall: red cells outnumber white cells about 700 to 1. Dozens intersect the image border or overlap in each field, and bounding-box detectors produce 4,042 partial-edge false positives. Leukocytes have dense chromatin nuclei that remove edge ambiguity. Future RBC enumeration will use area-density regression instead of discrete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Zero-shot evaluation on 72 real smears from an independent hospital laboratory. Leukocytes stayed robust; platelets collapsed. Different stain duration, buffer pH and lighting alter Romanowsky dye appearance.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rows (a) to (f). Row (d) shows stain normalization alone suppressing platelets; row (e) is the only configuration that recovers them, via per-class thresholding.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Platelets are 2 to 3 µm, nucleus-free and faintly pale-purple. Reinhard normalization aligns global channel statistics in CIELAB and diluted their chromatic contrast, pushing raw confidence scores just under 0.25. Lowering tau(PLT) to 0.15 recovered recall from 0.018 to 0.175. Normalization must always be paired with threshold recalibration.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the system diagnose leukemia today? No, and we explicitly avoid that claim. It is a triage screener for primary care: it flags severe infection, leukopenia or leukocytosis in under 35 seconds and directs the patient to a reference hospital for confirmatory flow cytometry.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E1A2E"/>
        </a:solidFill>
      </p:bgPr>
    </p:bg>
    <p:spTree>
      <p:nvGrpSpPr>
        <p:cNvPr id="1" name=""/>
        <p:cNvGrpSpPr/>
        <p:nvPr/>
      </p:nvGrpSpPr>
      <p:grpSpPr>
        <a:xfrm>
          <a:off x="0" y="0"/>
          <a:ext cx="0" cy="0"/>
          <a:chOff x="0" y="0"/>
          <a:chExt cx="0" cy="0"/>
        </a:xfrm>
      </p:grpSpPr>
      <p:sp>
        <p:nvSpPr>
          <p:cNvPr id="2" name="Shape 0"/>
          <p:cNvSpPr/>
          <p:nvPr/>
        </p:nvSpPr>
        <p:spPr>
          <a:xfrm>
            <a:off x="6309360" y="457200"/>
            <a:ext cx="2194560" cy="2194560"/>
          </a:xfrm>
          <a:prstGeom prst="ellipse">
            <a:avLst/>
          </a:prstGeom>
          <a:solidFill>
            <a:srgbClr val="C9506A">
              <a:alpha val="20000"/>
            </a:srgbClr>
          </a:solidFill>
          <a:ln w="12700">
            <a:solidFill>
              <a:srgbClr val="E58AA0">
                <a:alpha val="40000"/>
              </a:srgbClr>
            </a:solidFill>
            <a:prstDash val="solid"/>
          </a:ln>
        </p:spPr>
      </p:sp>
      <p:sp>
        <p:nvSpPr>
          <p:cNvPr id="3" name="Shape 1"/>
          <p:cNvSpPr/>
          <p:nvPr/>
        </p:nvSpPr>
        <p:spPr>
          <a:xfrm>
            <a:off x="6967728" y="1115568"/>
            <a:ext cx="877824" cy="877824"/>
          </a:xfrm>
          <a:prstGeom prst="ellipse">
            <a:avLst/>
          </a:prstGeom>
          <a:solidFill>
            <a:srgbClr val="7D2A40">
              <a:alpha val="60000"/>
            </a:srgbClr>
          </a:solidFill>
          <a:ln w="12700">
            <a:solidFill>
              <a:srgbClr val="7D2A40">
                <a:alpha val="0"/>
              </a:srgbClr>
            </a:solidFill>
            <a:prstDash val="solid"/>
          </a:ln>
        </p:spPr>
      </p:sp>
      <p:sp>
        <p:nvSpPr>
          <p:cNvPr id="4" name="Shape 2"/>
          <p:cNvSpPr/>
          <p:nvPr/>
        </p:nvSpPr>
        <p:spPr>
          <a:xfrm>
            <a:off x="7498080" y="2103120"/>
            <a:ext cx="1737360" cy="1737360"/>
          </a:xfrm>
          <a:prstGeom prst="ellipse">
            <a:avLst/>
          </a:prstGeom>
          <a:solidFill>
            <a:srgbClr val="B3243B">
              <a:alpha val="20000"/>
            </a:srgbClr>
          </a:solidFill>
          <a:ln w="12700">
            <a:solidFill>
              <a:srgbClr val="E58AA0">
                <a:alpha val="40000"/>
              </a:srgbClr>
            </a:solidFill>
            <a:prstDash val="solid"/>
          </a:ln>
        </p:spPr>
      </p:sp>
      <p:sp>
        <p:nvSpPr>
          <p:cNvPr id="5" name="Shape 3"/>
          <p:cNvSpPr/>
          <p:nvPr/>
        </p:nvSpPr>
        <p:spPr>
          <a:xfrm>
            <a:off x="8019288" y="2624328"/>
            <a:ext cx="694944" cy="694944"/>
          </a:xfrm>
          <a:prstGeom prst="ellipse">
            <a:avLst/>
          </a:prstGeom>
          <a:solidFill>
            <a:srgbClr val="7D2A40">
              <a:alpha val="60000"/>
            </a:srgbClr>
          </a:solidFill>
          <a:ln w="12700">
            <a:solidFill>
              <a:srgbClr val="7D2A40">
                <a:alpha val="0"/>
              </a:srgbClr>
            </a:solidFill>
            <a:prstDash val="solid"/>
          </a:ln>
        </p:spPr>
      </p:sp>
      <p:sp>
        <p:nvSpPr>
          <p:cNvPr id="6" name="Shape 4"/>
          <p:cNvSpPr/>
          <p:nvPr/>
        </p:nvSpPr>
        <p:spPr>
          <a:xfrm>
            <a:off x="5669280" y="3017520"/>
            <a:ext cx="2377440" cy="2377440"/>
          </a:xfrm>
          <a:prstGeom prst="ellipse">
            <a:avLst/>
          </a:prstGeom>
          <a:solidFill>
            <a:srgbClr val="C9506A">
              <a:alpha val="20000"/>
            </a:srgbClr>
          </a:solidFill>
          <a:ln w="12700">
            <a:solidFill>
              <a:srgbClr val="E58AA0">
                <a:alpha val="40000"/>
              </a:srgbClr>
            </a:solidFill>
            <a:prstDash val="solid"/>
          </a:ln>
        </p:spPr>
      </p:sp>
      <p:sp>
        <p:nvSpPr>
          <p:cNvPr id="7" name="Shape 5"/>
          <p:cNvSpPr/>
          <p:nvPr/>
        </p:nvSpPr>
        <p:spPr>
          <a:xfrm>
            <a:off x="6382512" y="3730752"/>
            <a:ext cx="950976" cy="950976"/>
          </a:xfrm>
          <a:prstGeom prst="ellipse">
            <a:avLst/>
          </a:prstGeom>
          <a:solidFill>
            <a:srgbClr val="7D2A40">
              <a:alpha val="60000"/>
            </a:srgbClr>
          </a:solidFill>
          <a:ln w="12700">
            <a:solidFill>
              <a:srgbClr val="7D2A40">
                <a:alpha val="0"/>
              </a:srgbClr>
            </a:solidFill>
            <a:prstDash val="solid"/>
          </a:ln>
        </p:spPr>
      </p:sp>
      <p:sp>
        <p:nvSpPr>
          <p:cNvPr id="8" name="Shape 6"/>
          <p:cNvSpPr/>
          <p:nvPr/>
        </p:nvSpPr>
        <p:spPr>
          <a:xfrm>
            <a:off x="7863840" y="4023360"/>
            <a:ext cx="1280160" cy="1280160"/>
          </a:xfrm>
          <a:prstGeom prst="ellipse">
            <a:avLst/>
          </a:prstGeom>
          <a:solidFill>
            <a:srgbClr val="B3243B">
              <a:alpha val="20000"/>
            </a:srgbClr>
          </a:solidFill>
          <a:ln w="12700">
            <a:solidFill>
              <a:srgbClr val="E58AA0">
                <a:alpha val="40000"/>
              </a:srgbClr>
            </a:solidFill>
            <a:prstDash val="solid"/>
          </a:ln>
        </p:spPr>
      </p:sp>
      <p:sp>
        <p:nvSpPr>
          <p:cNvPr id="9" name="Shape 7"/>
          <p:cNvSpPr/>
          <p:nvPr/>
        </p:nvSpPr>
        <p:spPr>
          <a:xfrm>
            <a:off x="8247888" y="4407408"/>
            <a:ext cx="512064" cy="512064"/>
          </a:xfrm>
          <a:prstGeom prst="ellipse">
            <a:avLst/>
          </a:prstGeom>
          <a:solidFill>
            <a:srgbClr val="7D2A40">
              <a:alpha val="60000"/>
            </a:srgbClr>
          </a:solidFill>
          <a:ln w="12700">
            <a:solidFill>
              <a:srgbClr val="7D2A40">
                <a:alpha val="0"/>
              </a:srgbClr>
            </a:solidFill>
            <a:prstDash val="solid"/>
          </a:ln>
        </p:spPr>
      </p:sp>
      <p:sp>
        <p:nvSpPr>
          <p:cNvPr id="10" name="Shape 8"/>
          <p:cNvSpPr/>
          <p:nvPr/>
        </p:nvSpPr>
        <p:spPr>
          <a:xfrm>
            <a:off x="6675120" y="1554480"/>
            <a:ext cx="914400" cy="914400"/>
          </a:xfrm>
          <a:prstGeom prst="ellipse">
            <a:avLst/>
          </a:prstGeom>
          <a:solidFill>
            <a:srgbClr val="C9506A">
              <a:alpha val="20000"/>
            </a:srgbClr>
          </a:solidFill>
          <a:ln w="12700">
            <a:solidFill>
              <a:srgbClr val="E58AA0">
                <a:alpha val="40000"/>
              </a:srgbClr>
            </a:solidFill>
            <a:prstDash val="solid"/>
          </a:ln>
        </p:spPr>
      </p:sp>
      <p:sp>
        <p:nvSpPr>
          <p:cNvPr id="11" name="Shape 9"/>
          <p:cNvSpPr/>
          <p:nvPr/>
        </p:nvSpPr>
        <p:spPr>
          <a:xfrm>
            <a:off x="6949440" y="1828800"/>
            <a:ext cx="365760" cy="365760"/>
          </a:xfrm>
          <a:prstGeom prst="ellipse">
            <a:avLst/>
          </a:prstGeom>
          <a:solidFill>
            <a:srgbClr val="7D2A40">
              <a:alpha val="60000"/>
            </a:srgbClr>
          </a:solidFill>
          <a:ln w="12700">
            <a:solidFill>
              <a:srgbClr val="7D2A40">
                <a:alpha val="0"/>
              </a:srgbClr>
            </a:solidFill>
            <a:prstDash val="solid"/>
          </a:ln>
        </p:spPr>
      </p:sp>
      <p:sp>
        <p:nvSpPr>
          <p:cNvPr id="12" name="Text 10"/>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200" b="1" spc="400" kern="0" dirty="0">
                <a:solidFill>
                  <a:srgbClr val="F2B8C4"/>
                </a:solidFill>
                <a:latin typeface="Calibri" pitchFamily="34" charset="0"/>
                <a:ea typeface="Calibri" pitchFamily="34" charset="-122"/>
                <a:cs typeface="Calibri" pitchFamily="34" charset="-120"/>
              </a:rPr>
              <a:t>CAPSTONE PROJECT DEFENSE</a:t>
            </a:r>
            <a:endParaRPr lang="en-US" sz="1200" dirty="0"/>
          </a:p>
        </p:txBody>
      </p:sp>
      <p:sp>
        <p:nvSpPr>
          <p:cNvPr id="13" name="Text 11"/>
          <p:cNvSpPr txBox="1"/>
          <p:nvPr/>
        </p:nvSpPr>
        <p:spPr>
          <a:xfrm>
            <a:off x="548640" y="914400"/>
            <a:ext cx="5760720" cy="14630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Edge-AI Automated Peripheral Blood Smear Analysis</a:t>
            </a:r>
            <a:endParaRPr lang="en-US" sz="3200" dirty="0"/>
          </a:p>
        </p:txBody>
      </p:sp>
      <p:sp>
        <p:nvSpPr>
          <p:cNvPr id="14" name="Text 12"/>
          <p:cNvSpPr txBox="1"/>
          <p:nvPr/>
        </p:nvSpPr>
        <p:spPr>
          <a:xfrm>
            <a:off x="548640" y="2606040"/>
            <a:ext cx="5486400" cy="731520"/>
          </a:xfrm>
          <a:prstGeom prst="rect">
            <a:avLst/>
          </a:prstGeom>
          <a:noFill/>
          <a:ln/>
        </p:spPr>
        <p:txBody>
          <a:bodyPr wrap="square" lIns="0" tIns="0" rIns="0" bIns="0" rtlCol="0" anchor="t"/>
          <a:lstStyle/>
          <a:p>
            <a:pPr indent="0" marL="0">
              <a:buNone/>
            </a:pPr>
            <a:r>
              <a:rPr lang="en-US" sz="1500" dirty="0">
                <a:solidFill>
                  <a:srgbClr val="F2D7DD"/>
                </a:solidFill>
                <a:latin typeface="Calibri" pitchFamily="34" charset="0"/>
                <a:ea typeface="Calibri" pitchFamily="34" charset="-122"/>
                <a:cs typeface="Calibri" pitchFamily="34" charset="-120"/>
              </a:rPr>
              <a:t>A YOLOv8n Deployment on Raspberry Pi 4 for Resource-Constrained Hematology Screening</a:t>
            </a:r>
            <a:endParaRPr lang="en-US" sz="1500" dirty="0"/>
          </a:p>
        </p:txBody>
      </p:sp>
      <p:sp>
        <p:nvSpPr>
          <p:cNvPr id="15" name="Text 13"/>
          <p:cNvSpPr txBox="1"/>
          <p:nvPr/>
        </p:nvSpPr>
        <p:spPr>
          <a:xfrm>
            <a:off x="548640" y="3520440"/>
            <a:ext cx="6035040" cy="1188720"/>
          </a:xfrm>
          <a:prstGeom prst="rect">
            <a:avLst/>
          </a:prstGeom>
          <a:noFill/>
          <a:ln/>
        </p:spPr>
        <p:txBody>
          <a:bodyPr wrap="square" lIns="0" tIns="0" rIns="0" bIns="0" rtlCol="0" anchor="t"/>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Shreyash Dhoot  |  Abhishek Karad  |  Pranav Lute  |  Prince Gupta</a:t>
            </a:r>
            <a:endParaRPr lang="en-US" sz="13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Project Guide: Dr. Anagha Deshpande, Assistant Professor</a:t>
            </a:r>
            <a:endParaRPr lang="en-US" sz="13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Department of Electrical and Electronics Engineering (DOEEE)</a:t>
            </a:r>
            <a:endParaRPr lang="en-US" sz="13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MIT World Peace University (MIT-WPU), Pune, Maharashtra, India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Clinical Context: The Diagnostic Gap</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
        <p:nvSpPr>
          <p:cNvPr id="6" name="Text 3"/>
          <p:cNvSpPr txBox="1"/>
          <p:nvPr/>
        </p:nvSpPr>
        <p:spPr>
          <a:xfrm>
            <a:off x="457200" y="1005840"/>
            <a:ext cx="8229600" cy="54864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Hematology testing is the gateway to diagnosing anemia, leukemia, sepsis and thrombocytopenia, yet access is limited where it is needed most.</a:t>
            </a:r>
            <a:endParaRPr lang="en-US" sz="1400" dirty="0"/>
          </a:p>
        </p:txBody>
      </p:sp>
      <p:sp>
        <p:nvSpPr>
          <p:cNvPr id="7" name="Shape 4"/>
          <p:cNvSpPr/>
          <p:nvPr/>
        </p:nvSpPr>
        <p:spPr>
          <a:xfrm>
            <a:off x="457200" y="1691640"/>
            <a:ext cx="2560320" cy="1600200"/>
          </a:xfrm>
          <a:prstGeom prst="roundRect">
            <a:avLst>
              <a:gd name="adj" fmla="val 5714"/>
            </a:avLst>
          </a:prstGeom>
          <a:solidFill>
            <a:srgbClr val="F8EFF1"/>
          </a:solidFill>
          <a:ln w="12700">
            <a:solidFill>
              <a:srgbClr val="F8EFF1"/>
            </a:solidFill>
            <a:prstDash val="solid"/>
          </a:ln>
        </p:spPr>
      </p:sp>
      <p:sp>
        <p:nvSpPr>
          <p:cNvPr id="8" name="Text 5"/>
          <p:cNvSpPr txBox="1"/>
          <p:nvPr/>
        </p:nvSpPr>
        <p:spPr>
          <a:xfrm>
            <a:off x="640080" y="1828800"/>
            <a:ext cx="2194560" cy="548640"/>
          </a:xfrm>
          <a:prstGeom prst="rect">
            <a:avLst/>
          </a:prstGeom>
          <a:noFill/>
          <a:ln/>
        </p:spPr>
        <p:txBody>
          <a:bodyPr wrap="square" lIns="0" tIns="0" rIns="0" bIns="0" rtlCol="0" anchor="t"/>
          <a:lstStyle/>
          <a:p>
            <a:pPr indent="0" marL="0">
              <a:buNone/>
            </a:pPr>
            <a:r>
              <a:rPr lang="en-US" sz="2800" b="1" dirty="0">
                <a:solidFill>
                  <a:srgbClr val="B3243B"/>
                </a:solidFill>
                <a:latin typeface="Cambria" pitchFamily="34" charset="0"/>
                <a:ea typeface="Cambria" pitchFamily="34" charset="-122"/>
                <a:cs typeface="Cambria" pitchFamily="34" charset="-120"/>
              </a:rPr>
              <a:t>$30k - $150k</a:t>
            </a:r>
            <a:endParaRPr lang="en-US" sz="2800" dirty="0"/>
          </a:p>
        </p:txBody>
      </p:sp>
      <p:sp>
        <p:nvSpPr>
          <p:cNvPr id="9" name="Text 6"/>
          <p:cNvSpPr txBox="1"/>
          <p:nvPr/>
        </p:nvSpPr>
        <p:spPr>
          <a:xfrm>
            <a:off x="640080" y="2423160"/>
            <a:ext cx="2194560" cy="8229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Automated CBC analyzers, plus proprietary reagents, stable power and technicians</a:t>
            </a:r>
            <a:endParaRPr lang="en-US" sz="1200" dirty="0"/>
          </a:p>
        </p:txBody>
      </p:sp>
      <p:sp>
        <p:nvSpPr>
          <p:cNvPr id="10" name="Shape 7"/>
          <p:cNvSpPr/>
          <p:nvPr/>
        </p:nvSpPr>
        <p:spPr>
          <a:xfrm>
            <a:off x="3291840" y="1691640"/>
            <a:ext cx="2560320" cy="1600200"/>
          </a:xfrm>
          <a:prstGeom prst="roundRect">
            <a:avLst>
              <a:gd name="adj" fmla="val 5714"/>
            </a:avLst>
          </a:prstGeom>
          <a:solidFill>
            <a:srgbClr val="F8EFF1"/>
          </a:solidFill>
          <a:ln w="12700">
            <a:solidFill>
              <a:srgbClr val="F8EFF1"/>
            </a:solidFill>
            <a:prstDash val="solid"/>
          </a:ln>
        </p:spPr>
      </p:sp>
      <p:sp>
        <p:nvSpPr>
          <p:cNvPr id="11" name="Text 8"/>
          <p:cNvSpPr txBox="1"/>
          <p:nvPr/>
        </p:nvSpPr>
        <p:spPr>
          <a:xfrm>
            <a:off x="3474720" y="1828800"/>
            <a:ext cx="2194560" cy="548640"/>
          </a:xfrm>
          <a:prstGeom prst="rect">
            <a:avLst/>
          </a:prstGeom>
          <a:noFill/>
          <a:ln/>
        </p:spPr>
        <p:txBody>
          <a:bodyPr wrap="square" lIns="0" tIns="0" rIns="0" bIns="0" rtlCol="0" anchor="t"/>
          <a:lstStyle/>
          <a:p>
            <a:pPr indent="0" marL="0">
              <a:buNone/>
            </a:pPr>
            <a:r>
              <a:rPr lang="en-US" sz="2800" b="1" dirty="0">
                <a:solidFill>
                  <a:srgbClr val="B3243B"/>
                </a:solidFill>
                <a:latin typeface="Cambria" pitchFamily="34" charset="0"/>
                <a:ea typeface="Cambria" pitchFamily="34" charset="-122"/>
                <a:cs typeface="Cambria" pitchFamily="34" charset="-120"/>
              </a:rPr>
              <a:t>5 - 15 min</a:t>
            </a:r>
            <a:endParaRPr lang="en-US" sz="2800" dirty="0"/>
          </a:p>
        </p:txBody>
      </p:sp>
      <p:sp>
        <p:nvSpPr>
          <p:cNvPr id="12" name="Text 9"/>
          <p:cNvSpPr txBox="1"/>
          <p:nvPr/>
        </p:nvSpPr>
        <p:spPr>
          <a:xfrm>
            <a:off x="3474720" y="2423160"/>
            <a:ext cx="2194560" cy="8229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Manual 100-cell differential per slide; subjective, with human-vs-human ICC of only 0.45 - 0.60</a:t>
            </a:r>
            <a:endParaRPr lang="en-US" sz="1200" dirty="0"/>
          </a:p>
        </p:txBody>
      </p:sp>
      <p:sp>
        <p:nvSpPr>
          <p:cNvPr id="13" name="Shape 10"/>
          <p:cNvSpPr/>
          <p:nvPr/>
        </p:nvSpPr>
        <p:spPr>
          <a:xfrm>
            <a:off x="6126480" y="1691640"/>
            <a:ext cx="2560320" cy="1600200"/>
          </a:xfrm>
          <a:prstGeom prst="roundRect">
            <a:avLst>
              <a:gd name="adj" fmla="val 5714"/>
            </a:avLst>
          </a:prstGeom>
          <a:solidFill>
            <a:srgbClr val="F8EFF1"/>
          </a:solidFill>
          <a:ln w="12700">
            <a:solidFill>
              <a:srgbClr val="F8EFF1"/>
            </a:solidFill>
            <a:prstDash val="solid"/>
          </a:ln>
        </p:spPr>
      </p:sp>
      <p:sp>
        <p:nvSpPr>
          <p:cNvPr id="14" name="Text 11"/>
          <p:cNvSpPr txBox="1"/>
          <p:nvPr/>
        </p:nvSpPr>
        <p:spPr>
          <a:xfrm>
            <a:off x="6309360" y="1828800"/>
            <a:ext cx="2194560" cy="548640"/>
          </a:xfrm>
          <a:prstGeom prst="rect">
            <a:avLst/>
          </a:prstGeom>
          <a:noFill/>
          <a:ln/>
        </p:spPr>
        <p:txBody>
          <a:bodyPr wrap="square" lIns="0" tIns="0" rIns="0" bIns="0" rtlCol="0" anchor="t"/>
          <a:lstStyle/>
          <a:p>
            <a:pPr indent="0" marL="0">
              <a:buNone/>
            </a:pPr>
            <a:r>
              <a:rPr lang="en-US" sz="2800" b="1" dirty="0">
                <a:solidFill>
                  <a:srgbClr val="B3243B"/>
                </a:solidFill>
                <a:latin typeface="Cambria" pitchFamily="34" charset="0"/>
                <a:ea typeface="Cambria" pitchFamily="34" charset="-122"/>
                <a:cs typeface="Cambria" pitchFamily="34" charset="-120"/>
              </a:rPr>
              <a:t>24 - 72 h</a:t>
            </a:r>
            <a:endParaRPr lang="en-US" sz="2800" dirty="0"/>
          </a:p>
        </p:txBody>
      </p:sp>
      <p:sp>
        <p:nvSpPr>
          <p:cNvPr id="15" name="Text 12"/>
          <p:cNvSpPr txBox="1"/>
          <p:nvPr/>
        </p:nvSpPr>
        <p:spPr>
          <a:xfrm>
            <a:off x="6309360" y="2423160"/>
            <a:ext cx="2194560" cy="8229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Typical wait as samples travel to district reference laboratories</a:t>
            </a:r>
            <a:endParaRPr lang="en-US" sz="1200" dirty="0"/>
          </a:p>
        </p:txBody>
      </p:sp>
      <p:sp>
        <p:nvSpPr>
          <p:cNvPr id="16" name="Shape 13"/>
          <p:cNvSpPr/>
          <p:nvPr/>
        </p:nvSpPr>
        <p:spPr>
          <a:xfrm>
            <a:off x="457200" y="3520440"/>
            <a:ext cx="8229600" cy="1097280"/>
          </a:xfrm>
          <a:prstGeom prst="roundRect">
            <a:avLst>
              <a:gd name="adj" fmla="val 8333"/>
            </a:avLst>
          </a:prstGeom>
          <a:solidFill>
            <a:srgbClr val="5E1A2E"/>
          </a:solidFill>
          <a:ln w="12700">
            <a:solidFill>
              <a:srgbClr val="5E1A2E"/>
            </a:solidFill>
            <a:prstDash val="solid"/>
          </a:ln>
        </p:spPr>
      </p:sp>
      <p:sp>
        <p:nvSpPr>
          <p:cNvPr id="17" name="Text 14"/>
          <p:cNvSpPr txBox="1"/>
          <p:nvPr/>
        </p:nvSpPr>
        <p:spPr>
          <a:xfrm>
            <a:off x="685800" y="3639312"/>
            <a:ext cx="3657600" cy="228600"/>
          </a:xfrm>
          <a:prstGeom prst="rect">
            <a:avLst/>
          </a:prstGeom>
          <a:noFill/>
          <a:ln/>
        </p:spPr>
        <p:txBody>
          <a:bodyPr wrap="square" lIns="0" tIns="0" rIns="0" bIns="0" rtlCol="0" anchor="t"/>
          <a:lstStyle/>
          <a:p>
            <a:pPr indent="0" marL="0">
              <a:buNone/>
            </a:pPr>
            <a:r>
              <a:rPr lang="en-US" sz="1100" b="1" spc="300" kern="0" dirty="0">
                <a:solidFill>
                  <a:srgbClr val="F2B8C4"/>
                </a:solidFill>
                <a:latin typeface="Calibri" pitchFamily="34" charset="0"/>
                <a:ea typeface="Calibri" pitchFamily="34" charset="-122"/>
                <a:cs typeface="Calibri" pitchFamily="34" charset="-120"/>
              </a:rPr>
              <a:t>CORE OBJECTIVE</a:t>
            </a:r>
            <a:endParaRPr lang="en-US" sz="1100" dirty="0"/>
          </a:p>
        </p:txBody>
      </p:sp>
      <p:sp>
        <p:nvSpPr>
          <p:cNvPr id="18" name="Text 15"/>
          <p:cNvSpPr txBox="1"/>
          <p:nvPr/>
        </p:nvSpPr>
        <p:spPr>
          <a:xfrm>
            <a:off x="685800" y="3913632"/>
            <a:ext cx="777240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battery-powered, point-of-care, $275 automated cytology system that delivers leukocyte and platelet triage in under 35 seconds per patient.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Hardware Architecture and Optical Setup</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457200" y="1188720"/>
            <a:ext cx="2606040" cy="1600200"/>
          </a:xfrm>
          <a:prstGeom prst="roundRect">
            <a:avLst>
              <a:gd name="adj" fmla="val 5714"/>
            </a:avLst>
          </a:prstGeom>
          <a:solidFill>
            <a:srgbClr val="F8EFF1"/>
          </a:solidFill>
          <a:ln w="12700">
            <a:solidFill>
              <a:srgbClr val="F8EFF1"/>
            </a:solidFill>
            <a:prstDash val="solid"/>
          </a:ln>
        </p:spPr>
      </p:sp>
      <p:sp>
        <p:nvSpPr>
          <p:cNvPr id="6" name="Shape 4"/>
          <p:cNvSpPr/>
          <p:nvPr/>
        </p:nvSpPr>
        <p:spPr>
          <a:xfrm>
            <a:off x="640080" y="1353312"/>
            <a:ext cx="365760" cy="365760"/>
          </a:xfrm>
          <a:prstGeom prst="ellipse">
            <a:avLst/>
          </a:prstGeom>
          <a:solidFill>
            <a:srgbClr val="0E7C86"/>
          </a:solidFill>
          <a:ln w="12700">
            <a:solidFill>
              <a:srgbClr val="0E7C86"/>
            </a:solidFill>
            <a:prstDash val="solid"/>
          </a:ln>
        </p:spPr>
      </p:sp>
      <p:sp>
        <p:nvSpPr>
          <p:cNvPr id="7" name="Text 5"/>
          <p:cNvSpPr txBox="1"/>
          <p:nvPr/>
        </p:nvSpPr>
        <p:spPr>
          <a:xfrm>
            <a:off x="640080" y="13533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97280" y="1353312"/>
            <a:ext cx="1828800" cy="365760"/>
          </a:xfrm>
          <a:prstGeom prst="rect">
            <a:avLst/>
          </a:prstGeom>
          <a:noFill/>
          <a:ln/>
        </p:spPr>
        <p:txBody>
          <a:bodyPr wrap="square" lIns="0" tIns="0" rIns="0" bIns="0" rtlCol="0" anchor="ctr"/>
          <a:lstStyle/>
          <a:p>
            <a:pPr indent="0" marL="0">
              <a:buNone/>
            </a:pPr>
            <a:r>
              <a:rPr lang="en-US" sz="1400" b="1" dirty="0">
                <a:solidFill>
                  <a:srgbClr val="5E1A2E"/>
                </a:solidFill>
                <a:latin typeface="Calibri" pitchFamily="34" charset="0"/>
                <a:ea typeface="Calibri" pitchFamily="34" charset="-122"/>
                <a:cs typeface="Calibri" pitchFamily="34" charset="-120"/>
              </a:rPr>
              <a:t>Computing core</a:t>
            </a:r>
            <a:endParaRPr lang="en-US" sz="1400" dirty="0"/>
          </a:p>
        </p:txBody>
      </p:sp>
      <p:sp>
        <p:nvSpPr>
          <p:cNvPr id="9" name="Text 7"/>
          <p:cNvSpPr txBox="1"/>
          <p:nvPr/>
        </p:nvSpPr>
        <p:spPr>
          <a:xfrm>
            <a:off x="640080" y="1874520"/>
            <a:ext cx="2286000" cy="8686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Raspberry Pi 4B: BCM2711, quad-core Cortex-A72 @ 1.5 GHz, 4 GB LPDDR4</a:t>
            </a:r>
            <a:endParaRPr lang="en-US" sz="1200" dirty="0"/>
          </a:p>
        </p:txBody>
      </p:sp>
      <p:sp>
        <p:nvSpPr>
          <p:cNvPr id="10" name="Shape 8"/>
          <p:cNvSpPr/>
          <p:nvPr/>
        </p:nvSpPr>
        <p:spPr>
          <a:xfrm>
            <a:off x="3246120" y="1188720"/>
            <a:ext cx="2606040" cy="1600200"/>
          </a:xfrm>
          <a:prstGeom prst="roundRect">
            <a:avLst>
              <a:gd name="adj" fmla="val 5714"/>
            </a:avLst>
          </a:prstGeom>
          <a:solidFill>
            <a:srgbClr val="F8EFF1"/>
          </a:solidFill>
          <a:ln w="12700">
            <a:solidFill>
              <a:srgbClr val="F8EFF1"/>
            </a:solidFill>
            <a:prstDash val="solid"/>
          </a:ln>
        </p:spPr>
      </p:sp>
      <p:sp>
        <p:nvSpPr>
          <p:cNvPr id="11" name="Shape 9"/>
          <p:cNvSpPr/>
          <p:nvPr/>
        </p:nvSpPr>
        <p:spPr>
          <a:xfrm>
            <a:off x="3429000" y="1353312"/>
            <a:ext cx="365760" cy="365760"/>
          </a:xfrm>
          <a:prstGeom prst="ellipse">
            <a:avLst/>
          </a:prstGeom>
          <a:solidFill>
            <a:srgbClr val="0E7C86"/>
          </a:solidFill>
          <a:ln w="12700">
            <a:solidFill>
              <a:srgbClr val="0E7C86"/>
            </a:solidFill>
            <a:prstDash val="solid"/>
          </a:ln>
        </p:spPr>
      </p:sp>
      <p:sp>
        <p:nvSpPr>
          <p:cNvPr id="12" name="Text 10"/>
          <p:cNvSpPr txBox="1"/>
          <p:nvPr/>
        </p:nvSpPr>
        <p:spPr>
          <a:xfrm>
            <a:off x="3429000" y="13533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3886200" y="1353312"/>
            <a:ext cx="1828800" cy="365760"/>
          </a:xfrm>
          <a:prstGeom prst="rect">
            <a:avLst/>
          </a:prstGeom>
          <a:noFill/>
          <a:ln/>
        </p:spPr>
        <p:txBody>
          <a:bodyPr wrap="square" lIns="0" tIns="0" rIns="0" bIns="0" rtlCol="0" anchor="ctr"/>
          <a:lstStyle/>
          <a:p>
            <a:pPr indent="0" marL="0">
              <a:buNone/>
            </a:pPr>
            <a:r>
              <a:rPr lang="en-US" sz="1400" b="1" dirty="0">
                <a:solidFill>
                  <a:srgbClr val="5E1A2E"/>
                </a:solidFill>
                <a:latin typeface="Calibri" pitchFamily="34" charset="0"/>
                <a:ea typeface="Calibri" pitchFamily="34" charset="-122"/>
                <a:cs typeface="Calibri" pitchFamily="34" charset="-120"/>
              </a:rPr>
              <a:t>Optical sensor</a:t>
            </a:r>
            <a:endParaRPr lang="en-US" sz="1400" dirty="0"/>
          </a:p>
        </p:txBody>
      </p:sp>
      <p:sp>
        <p:nvSpPr>
          <p:cNvPr id="14" name="Text 12"/>
          <p:cNvSpPr txBox="1"/>
          <p:nvPr/>
        </p:nvSpPr>
        <p:spPr>
          <a:xfrm>
            <a:off x="3429000" y="1874520"/>
            <a:ext cx="2286000" cy="8686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12.3 MP Sony IMX477 back-illuminated CMOS, 1.55 µm pixel pitch</a:t>
            </a:r>
            <a:endParaRPr lang="en-US" sz="1200" dirty="0"/>
          </a:p>
        </p:txBody>
      </p:sp>
      <p:sp>
        <p:nvSpPr>
          <p:cNvPr id="15" name="Shape 13"/>
          <p:cNvSpPr/>
          <p:nvPr/>
        </p:nvSpPr>
        <p:spPr>
          <a:xfrm>
            <a:off x="457200" y="2971800"/>
            <a:ext cx="2606040" cy="1600200"/>
          </a:xfrm>
          <a:prstGeom prst="roundRect">
            <a:avLst>
              <a:gd name="adj" fmla="val 5714"/>
            </a:avLst>
          </a:prstGeom>
          <a:solidFill>
            <a:srgbClr val="F8EFF1"/>
          </a:solidFill>
          <a:ln w="12700">
            <a:solidFill>
              <a:srgbClr val="F8EFF1"/>
            </a:solidFill>
            <a:prstDash val="solid"/>
          </a:ln>
        </p:spPr>
      </p:sp>
      <p:sp>
        <p:nvSpPr>
          <p:cNvPr id="16" name="Shape 14"/>
          <p:cNvSpPr/>
          <p:nvPr/>
        </p:nvSpPr>
        <p:spPr>
          <a:xfrm>
            <a:off x="640080" y="3136392"/>
            <a:ext cx="365760" cy="365760"/>
          </a:xfrm>
          <a:prstGeom prst="ellipse">
            <a:avLst/>
          </a:prstGeom>
          <a:solidFill>
            <a:srgbClr val="0E7C86"/>
          </a:solidFill>
          <a:ln w="12700">
            <a:solidFill>
              <a:srgbClr val="0E7C86"/>
            </a:solidFill>
            <a:prstDash val="solid"/>
          </a:ln>
        </p:spPr>
      </p:sp>
      <p:sp>
        <p:nvSpPr>
          <p:cNvPr id="17" name="Text 15"/>
          <p:cNvSpPr txBox="1"/>
          <p:nvPr/>
        </p:nvSpPr>
        <p:spPr>
          <a:xfrm>
            <a:off x="640080" y="31363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097280" y="3136392"/>
            <a:ext cx="1828800" cy="365760"/>
          </a:xfrm>
          <a:prstGeom prst="rect">
            <a:avLst/>
          </a:prstGeom>
          <a:noFill/>
          <a:ln/>
        </p:spPr>
        <p:txBody>
          <a:bodyPr wrap="square" lIns="0" tIns="0" rIns="0" bIns="0" rtlCol="0" anchor="ctr"/>
          <a:lstStyle/>
          <a:p>
            <a:pPr indent="0" marL="0">
              <a:buNone/>
            </a:pPr>
            <a:r>
              <a:rPr lang="en-US" sz="1400" b="1" dirty="0">
                <a:solidFill>
                  <a:srgbClr val="5E1A2E"/>
                </a:solidFill>
                <a:latin typeface="Calibri" pitchFamily="34" charset="0"/>
                <a:ea typeface="Calibri" pitchFamily="34" charset="-122"/>
                <a:cs typeface="Calibri" pitchFamily="34" charset="-120"/>
              </a:rPr>
              <a:t>Mechanical interface</a:t>
            </a:r>
            <a:endParaRPr lang="en-US" sz="1400" dirty="0"/>
          </a:p>
        </p:txBody>
      </p:sp>
      <p:sp>
        <p:nvSpPr>
          <p:cNvPr id="19" name="Text 17"/>
          <p:cNvSpPr txBox="1"/>
          <p:nvPr/>
        </p:nvSpPr>
        <p:spPr>
          <a:xfrm>
            <a:off x="640080" y="3657600"/>
            <a:ext cx="2286000" cy="8686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Custom 3D-printed C-mount adapter coupled to a 23.2 mm trinocular microscope tube</a:t>
            </a:r>
            <a:endParaRPr lang="en-US" sz="1200" dirty="0"/>
          </a:p>
        </p:txBody>
      </p:sp>
      <p:sp>
        <p:nvSpPr>
          <p:cNvPr id="20" name="Shape 18"/>
          <p:cNvSpPr/>
          <p:nvPr/>
        </p:nvSpPr>
        <p:spPr>
          <a:xfrm>
            <a:off x="3246120" y="2971800"/>
            <a:ext cx="2606040" cy="1600200"/>
          </a:xfrm>
          <a:prstGeom prst="roundRect">
            <a:avLst>
              <a:gd name="adj" fmla="val 5714"/>
            </a:avLst>
          </a:prstGeom>
          <a:solidFill>
            <a:srgbClr val="F8EFF1"/>
          </a:solidFill>
          <a:ln w="12700">
            <a:solidFill>
              <a:srgbClr val="F8EFF1"/>
            </a:solidFill>
            <a:prstDash val="solid"/>
          </a:ln>
        </p:spPr>
      </p:sp>
      <p:sp>
        <p:nvSpPr>
          <p:cNvPr id="21" name="Shape 19"/>
          <p:cNvSpPr/>
          <p:nvPr/>
        </p:nvSpPr>
        <p:spPr>
          <a:xfrm>
            <a:off x="3429000" y="3136392"/>
            <a:ext cx="365760" cy="365760"/>
          </a:xfrm>
          <a:prstGeom prst="ellipse">
            <a:avLst/>
          </a:prstGeom>
          <a:solidFill>
            <a:srgbClr val="0E7C86"/>
          </a:solidFill>
          <a:ln w="12700">
            <a:solidFill>
              <a:srgbClr val="0E7C86"/>
            </a:solidFill>
            <a:prstDash val="solid"/>
          </a:ln>
        </p:spPr>
      </p:sp>
      <p:sp>
        <p:nvSpPr>
          <p:cNvPr id="22" name="Text 20"/>
          <p:cNvSpPr txBox="1"/>
          <p:nvPr/>
        </p:nvSpPr>
        <p:spPr>
          <a:xfrm>
            <a:off x="3429000" y="31363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3886200" y="3136392"/>
            <a:ext cx="1828800" cy="365760"/>
          </a:xfrm>
          <a:prstGeom prst="rect">
            <a:avLst/>
          </a:prstGeom>
          <a:noFill/>
          <a:ln/>
        </p:spPr>
        <p:txBody>
          <a:bodyPr wrap="square" lIns="0" tIns="0" rIns="0" bIns="0" rtlCol="0" anchor="ctr"/>
          <a:lstStyle/>
          <a:p>
            <a:pPr indent="0" marL="0">
              <a:buNone/>
            </a:pPr>
            <a:r>
              <a:rPr lang="en-US" sz="1400" b="1" dirty="0">
                <a:solidFill>
                  <a:srgbClr val="5E1A2E"/>
                </a:solidFill>
                <a:latin typeface="Calibri" pitchFamily="34" charset="0"/>
                <a:ea typeface="Calibri" pitchFamily="34" charset="-122"/>
                <a:cs typeface="Calibri" pitchFamily="34" charset="-120"/>
              </a:rPr>
              <a:t>Microscope</a:t>
            </a:r>
            <a:endParaRPr lang="en-US" sz="1400" dirty="0"/>
          </a:p>
        </p:txBody>
      </p:sp>
      <p:sp>
        <p:nvSpPr>
          <p:cNvPr id="24" name="Text 22"/>
          <p:cNvSpPr txBox="1"/>
          <p:nvPr/>
        </p:nvSpPr>
        <p:spPr>
          <a:xfrm>
            <a:off x="3429000" y="3657600"/>
            <a:ext cx="2286000" cy="8686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Standard compound laboratory scope, 100× oil immersion, Giemsa-stained smear</a:t>
            </a:r>
            <a:endParaRPr lang="en-US" sz="1200" dirty="0"/>
          </a:p>
        </p:txBody>
      </p:sp>
      <p:sp>
        <p:nvSpPr>
          <p:cNvPr id="25" name="Shape 23"/>
          <p:cNvSpPr/>
          <p:nvPr/>
        </p:nvSpPr>
        <p:spPr>
          <a:xfrm>
            <a:off x="6172200" y="1188720"/>
            <a:ext cx="2514600" cy="3383280"/>
          </a:xfrm>
          <a:prstGeom prst="roundRect">
            <a:avLst>
              <a:gd name="adj" fmla="val 3636"/>
            </a:avLst>
          </a:prstGeom>
          <a:solidFill>
            <a:srgbClr val="5E1A2E"/>
          </a:solidFill>
          <a:ln w="12700">
            <a:solidFill>
              <a:srgbClr val="5E1A2E"/>
            </a:solidFill>
            <a:prstDash val="solid"/>
          </a:ln>
        </p:spPr>
      </p:sp>
      <p:sp>
        <p:nvSpPr>
          <p:cNvPr id="26" name="Text 24"/>
          <p:cNvSpPr txBox="1"/>
          <p:nvPr/>
        </p:nvSpPr>
        <p:spPr>
          <a:xfrm>
            <a:off x="6355080" y="1371600"/>
            <a:ext cx="2194560" cy="274320"/>
          </a:xfrm>
          <a:prstGeom prst="rect">
            <a:avLst/>
          </a:prstGeom>
          <a:noFill/>
          <a:ln/>
        </p:spPr>
        <p:txBody>
          <a:bodyPr wrap="square" lIns="0" tIns="0" rIns="0" bIns="0" rtlCol="0" anchor="t"/>
          <a:lstStyle/>
          <a:p>
            <a:pPr indent="0" marL="0">
              <a:buNone/>
            </a:pPr>
            <a:r>
              <a:rPr lang="en-US" sz="1100" b="1" spc="300" kern="0" dirty="0">
                <a:solidFill>
                  <a:srgbClr val="F2B8C4"/>
                </a:solidFill>
                <a:latin typeface="Calibri" pitchFamily="34" charset="0"/>
                <a:ea typeface="Calibri" pitchFamily="34" charset="-122"/>
                <a:cs typeface="Calibri" pitchFamily="34" charset="-120"/>
              </a:rPr>
              <a:t>TOTAL CAPEX</a:t>
            </a:r>
            <a:endParaRPr lang="en-US" sz="1100" dirty="0"/>
          </a:p>
        </p:txBody>
      </p:sp>
      <p:sp>
        <p:nvSpPr>
          <p:cNvPr id="27" name="Text 25"/>
          <p:cNvSpPr txBox="1"/>
          <p:nvPr/>
        </p:nvSpPr>
        <p:spPr>
          <a:xfrm>
            <a:off x="6355080" y="1691640"/>
            <a:ext cx="219456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$275</a:t>
            </a:r>
            <a:endParaRPr lang="en-US" sz="5400" dirty="0"/>
          </a:p>
        </p:txBody>
      </p:sp>
      <p:sp>
        <p:nvSpPr>
          <p:cNvPr id="28" name="Text 26"/>
          <p:cNvSpPr txBox="1"/>
          <p:nvPr/>
        </p:nvSpPr>
        <p:spPr>
          <a:xfrm>
            <a:off x="6355080" y="2743200"/>
            <a:ext cx="2194560" cy="777240"/>
          </a:xfrm>
          <a:prstGeom prst="rect">
            <a:avLst/>
          </a:prstGeom>
          <a:noFill/>
          <a:ln/>
        </p:spPr>
        <p:txBody>
          <a:bodyPr wrap="square" lIns="0" tIns="0" rIns="0" bIns="0" rtlCol="0" anchor="t"/>
          <a:lstStyle/>
          <a:p>
            <a:pPr indent="0" marL="0">
              <a:spcAft>
                <a:spcPts val="300"/>
              </a:spcAft>
              <a:buNone/>
            </a:pPr>
            <a:r>
              <a:rPr lang="en-US" sz="1200" dirty="0">
                <a:solidFill>
                  <a:srgbClr val="F2D7DD"/>
                </a:solidFill>
                <a:latin typeface="Calibri" pitchFamily="34" charset="0"/>
                <a:ea typeface="Calibri" pitchFamily="34" charset="-122"/>
                <a:cs typeface="Calibri" pitchFamily="34" charset="-120"/>
              </a:rPr>
              <a:t>Single-board computer  $75</a:t>
            </a:r>
            <a:endParaRPr lang="en-US" sz="1200" dirty="0"/>
          </a:p>
          <a:p>
            <a:pPr indent="0" marL="0">
              <a:spcAft>
                <a:spcPts val="300"/>
              </a:spcAft>
              <a:buNone/>
            </a:pPr>
            <a:r>
              <a:rPr lang="en-US" sz="1200" dirty="0">
                <a:solidFill>
                  <a:srgbClr val="F2D7DD"/>
                </a:solidFill>
                <a:latin typeface="Calibri" pitchFamily="34" charset="0"/>
                <a:ea typeface="Calibri" pitchFamily="34" charset="-122"/>
                <a:cs typeface="Calibri" pitchFamily="34" charset="-120"/>
              </a:rPr>
              <a:t>12.3 MP sensor  $50</a:t>
            </a:r>
            <a:endParaRPr lang="en-US" sz="1200" dirty="0"/>
          </a:p>
          <a:p>
            <a:pPr indent="0" marL="0">
              <a:spcAft>
                <a:spcPts val="300"/>
              </a:spcAft>
              <a:buNone/>
            </a:pPr>
            <a:r>
              <a:rPr lang="en-US" sz="1200" dirty="0">
                <a:solidFill>
                  <a:srgbClr val="F2D7DD"/>
                </a:solidFill>
                <a:latin typeface="Calibri" pitchFamily="34" charset="0"/>
                <a:ea typeface="Calibri" pitchFamily="34" charset="-122"/>
                <a:cs typeface="Calibri" pitchFamily="34" charset="-120"/>
              </a:rPr>
              <a:t>Optical frame  $150</a:t>
            </a:r>
            <a:endParaRPr lang="en-US" sz="1200" dirty="0"/>
          </a:p>
        </p:txBody>
      </p:sp>
      <p:sp>
        <p:nvSpPr>
          <p:cNvPr id="29" name="Text 27"/>
          <p:cNvSpPr txBox="1"/>
          <p:nvPr/>
        </p:nvSpPr>
        <p:spPr>
          <a:xfrm>
            <a:off x="6355080" y="3657600"/>
            <a:ext cx="2194560" cy="7772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99% cheaper than commercial automated analyzers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Embedded Deep Learning Pipeline</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
        <p:nvSpPr>
          <p:cNvPr id="6" name="Shape 3"/>
          <p:cNvSpPr/>
          <p:nvPr/>
        </p:nvSpPr>
        <p:spPr>
          <a:xfrm>
            <a:off x="457200" y="1188720"/>
            <a:ext cx="1874520" cy="1600200"/>
          </a:xfrm>
          <a:prstGeom prst="roundRect">
            <a:avLst>
              <a:gd name="adj" fmla="val 5714"/>
            </a:avLst>
          </a:prstGeom>
          <a:solidFill>
            <a:srgbClr val="F8EFF1"/>
          </a:solidFill>
          <a:ln w="12700">
            <a:solidFill>
              <a:srgbClr val="F8EFF1"/>
            </a:solidFill>
            <a:prstDash val="solid"/>
          </a:ln>
        </p:spPr>
      </p:sp>
      <p:sp>
        <p:nvSpPr>
          <p:cNvPr id="7" name="Shape 4"/>
          <p:cNvSpPr/>
          <p:nvPr/>
        </p:nvSpPr>
        <p:spPr>
          <a:xfrm>
            <a:off x="594360" y="1325880"/>
            <a:ext cx="347472" cy="347472"/>
          </a:xfrm>
          <a:prstGeom prst="ellipse">
            <a:avLst/>
          </a:prstGeom>
          <a:solidFill>
            <a:srgbClr val="B3243B"/>
          </a:solidFill>
          <a:ln w="12700">
            <a:solidFill>
              <a:srgbClr val="B3243B"/>
            </a:solidFill>
            <a:prstDash val="solid"/>
          </a:ln>
        </p:spPr>
      </p:sp>
      <p:sp>
        <p:nvSpPr>
          <p:cNvPr id="8" name="Text 5"/>
          <p:cNvSpPr txBox="1"/>
          <p:nvPr/>
        </p:nvSpPr>
        <p:spPr>
          <a:xfrm>
            <a:off x="594360" y="13258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594360" y="1783080"/>
            <a:ext cx="1645920" cy="274320"/>
          </a:xfrm>
          <a:prstGeom prst="rect">
            <a:avLst/>
          </a:prstGeom>
          <a:noFill/>
          <a:ln/>
        </p:spPr>
        <p:txBody>
          <a:bodyPr wrap="square" lIns="0" tIns="0" rIns="0" bIns="0" rtlCol="0" anchor="t"/>
          <a:lstStyle/>
          <a:p>
            <a:pPr indent="0" marL="0">
              <a:buNone/>
            </a:pPr>
            <a:r>
              <a:rPr lang="en-US" sz="1300" b="1" dirty="0">
                <a:solidFill>
                  <a:srgbClr val="5E1A2E"/>
                </a:solidFill>
                <a:latin typeface="Calibri" pitchFamily="34" charset="0"/>
                <a:ea typeface="Calibri" pitchFamily="34" charset="-122"/>
                <a:cs typeface="Calibri" pitchFamily="34" charset="-120"/>
              </a:rPr>
              <a:t>PyTorch training</a:t>
            </a:r>
            <a:endParaRPr lang="en-US" sz="1300" dirty="0"/>
          </a:p>
        </p:txBody>
      </p:sp>
      <p:sp>
        <p:nvSpPr>
          <p:cNvPr id="10" name="Text 7"/>
          <p:cNvSpPr txBox="1"/>
          <p:nvPr/>
        </p:nvSpPr>
        <p:spPr>
          <a:xfrm>
            <a:off x="594360" y="2084832"/>
            <a:ext cx="1645920" cy="36576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best.pt</a:t>
            </a:r>
            <a:endParaRPr lang="en-US" sz="1100" dirty="0"/>
          </a:p>
        </p:txBody>
      </p:sp>
      <p:sp>
        <p:nvSpPr>
          <p:cNvPr id="11" name="Text 8"/>
          <p:cNvSpPr txBox="1"/>
          <p:nvPr/>
        </p:nvSpPr>
        <p:spPr>
          <a:xfrm>
            <a:off x="594360" y="2450592"/>
            <a:ext cx="1645920" cy="27432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6.2 MB</a:t>
            </a:r>
            <a:endParaRPr lang="en-US" sz="1300" dirty="0"/>
          </a:p>
        </p:txBody>
      </p:sp>
      <p:sp>
        <p:nvSpPr>
          <p:cNvPr id="12" name="Shape 9"/>
          <p:cNvSpPr/>
          <p:nvPr/>
        </p:nvSpPr>
        <p:spPr>
          <a:xfrm>
            <a:off x="2350008" y="1874520"/>
            <a:ext cx="192024" cy="228600"/>
          </a:xfrm>
          <a:prstGeom prst="rightArrow">
            <a:avLst/>
          </a:prstGeom>
          <a:solidFill>
            <a:srgbClr val="6B6B6B"/>
          </a:solidFill>
          <a:ln w="12700">
            <a:solidFill>
              <a:srgbClr val="6B6B6B"/>
            </a:solidFill>
            <a:prstDash val="solid"/>
          </a:ln>
        </p:spPr>
      </p:sp>
      <p:sp>
        <p:nvSpPr>
          <p:cNvPr id="13" name="Shape 10"/>
          <p:cNvSpPr/>
          <p:nvPr/>
        </p:nvSpPr>
        <p:spPr>
          <a:xfrm>
            <a:off x="2578608" y="1188720"/>
            <a:ext cx="1874520" cy="1600200"/>
          </a:xfrm>
          <a:prstGeom prst="roundRect">
            <a:avLst>
              <a:gd name="adj" fmla="val 5714"/>
            </a:avLst>
          </a:prstGeom>
          <a:solidFill>
            <a:srgbClr val="F8EFF1"/>
          </a:solidFill>
          <a:ln w="12700">
            <a:solidFill>
              <a:srgbClr val="F8EFF1"/>
            </a:solidFill>
            <a:prstDash val="solid"/>
          </a:ln>
        </p:spPr>
      </p:sp>
      <p:sp>
        <p:nvSpPr>
          <p:cNvPr id="14" name="Shape 11"/>
          <p:cNvSpPr/>
          <p:nvPr/>
        </p:nvSpPr>
        <p:spPr>
          <a:xfrm>
            <a:off x="2715768" y="1325880"/>
            <a:ext cx="347472" cy="347472"/>
          </a:xfrm>
          <a:prstGeom prst="ellipse">
            <a:avLst/>
          </a:prstGeom>
          <a:solidFill>
            <a:srgbClr val="B3243B"/>
          </a:solidFill>
          <a:ln w="12700">
            <a:solidFill>
              <a:srgbClr val="B3243B"/>
            </a:solidFill>
            <a:prstDash val="solid"/>
          </a:ln>
        </p:spPr>
      </p:sp>
      <p:sp>
        <p:nvSpPr>
          <p:cNvPr id="15" name="Text 12"/>
          <p:cNvSpPr txBox="1"/>
          <p:nvPr/>
        </p:nvSpPr>
        <p:spPr>
          <a:xfrm>
            <a:off x="2715768" y="13258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2715768" y="1783080"/>
            <a:ext cx="1645920" cy="274320"/>
          </a:xfrm>
          <a:prstGeom prst="rect">
            <a:avLst/>
          </a:prstGeom>
          <a:noFill/>
          <a:ln/>
        </p:spPr>
        <p:txBody>
          <a:bodyPr wrap="square" lIns="0" tIns="0" rIns="0" bIns="0" rtlCol="0" anchor="t"/>
          <a:lstStyle/>
          <a:p>
            <a:pPr indent="0" marL="0">
              <a:buNone/>
            </a:pPr>
            <a:r>
              <a:rPr lang="en-US" sz="1300" b="1" dirty="0">
                <a:solidFill>
                  <a:srgbClr val="5E1A2E"/>
                </a:solidFill>
                <a:latin typeface="Calibri" pitchFamily="34" charset="0"/>
                <a:ea typeface="Calibri" pitchFamily="34" charset="-122"/>
                <a:cs typeface="Calibri" pitchFamily="34" charset="-120"/>
              </a:rPr>
              <a:t>ONNX export</a:t>
            </a:r>
            <a:endParaRPr lang="en-US" sz="1300" dirty="0"/>
          </a:p>
        </p:txBody>
      </p:sp>
      <p:sp>
        <p:nvSpPr>
          <p:cNvPr id="17" name="Text 14"/>
          <p:cNvSpPr txBox="1"/>
          <p:nvPr/>
        </p:nvSpPr>
        <p:spPr>
          <a:xfrm>
            <a:off x="2715768" y="2084832"/>
            <a:ext cx="1645920" cy="36576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Fixed 640 × 640 input</a:t>
            </a:r>
            <a:endParaRPr lang="en-US" sz="1100" dirty="0"/>
          </a:p>
        </p:txBody>
      </p:sp>
      <p:sp>
        <p:nvSpPr>
          <p:cNvPr id="18" name="Text 15"/>
          <p:cNvSpPr txBox="1"/>
          <p:nvPr/>
        </p:nvSpPr>
        <p:spPr>
          <a:xfrm>
            <a:off x="2715768" y="2450592"/>
            <a:ext cx="1645920" cy="27432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11.7 MB</a:t>
            </a:r>
            <a:endParaRPr lang="en-US" sz="1300" dirty="0"/>
          </a:p>
        </p:txBody>
      </p:sp>
      <p:sp>
        <p:nvSpPr>
          <p:cNvPr id="19" name="Shape 16"/>
          <p:cNvSpPr/>
          <p:nvPr/>
        </p:nvSpPr>
        <p:spPr>
          <a:xfrm>
            <a:off x="4471416" y="1874520"/>
            <a:ext cx="192024" cy="228600"/>
          </a:xfrm>
          <a:prstGeom prst="rightArrow">
            <a:avLst/>
          </a:prstGeom>
          <a:solidFill>
            <a:srgbClr val="6B6B6B"/>
          </a:solidFill>
          <a:ln w="12700">
            <a:solidFill>
              <a:srgbClr val="6B6B6B"/>
            </a:solidFill>
            <a:prstDash val="solid"/>
          </a:ln>
        </p:spPr>
      </p:sp>
      <p:sp>
        <p:nvSpPr>
          <p:cNvPr id="20" name="Shape 17"/>
          <p:cNvSpPr/>
          <p:nvPr/>
        </p:nvSpPr>
        <p:spPr>
          <a:xfrm>
            <a:off x="4700016" y="1188720"/>
            <a:ext cx="1874520" cy="1600200"/>
          </a:xfrm>
          <a:prstGeom prst="roundRect">
            <a:avLst>
              <a:gd name="adj" fmla="val 5714"/>
            </a:avLst>
          </a:prstGeom>
          <a:solidFill>
            <a:srgbClr val="F8EFF1"/>
          </a:solidFill>
          <a:ln w="12700">
            <a:solidFill>
              <a:srgbClr val="F8EFF1"/>
            </a:solidFill>
            <a:prstDash val="solid"/>
          </a:ln>
        </p:spPr>
      </p:sp>
      <p:sp>
        <p:nvSpPr>
          <p:cNvPr id="21" name="Shape 18"/>
          <p:cNvSpPr/>
          <p:nvPr/>
        </p:nvSpPr>
        <p:spPr>
          <a:xfrm>
            <a:off x="4837176" y="1325880"/>
            <a:ext cx="347472" cy="347472"/>
          </a:xfrm>
          <a:prstGeom prst="ellipse">
            <a:avLst/>
          </a:prstGeom>
          <a:solidFill>
            <a:srgbClr val="B3243B"/>
          </a:solidFill>
          <a:ln w="12700">
            <a:solidFill>
              <a:srgbClr val="B3243B"/>
            </a:solidFill>
            <a:prstDash val="solid"/>
          </a:ln>
        </p:spPr>
      </p:sp>
      <p:sp>
        <p:nvSpPr>
          <p:cNvPr id="22" name="Text 19"/>
          <p:cNvSpPr txBox="1"/>
          <p:nvPr/>
        </p:nvSpPr>
        <p:spPr>
          <a:xfrm>
            <a:off x="4837176" y="13258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0"/>
          <p:cNvSpPr txBox="1"/>
          <p:nvPr/>
        </p:nvSpPr>
        <p:spPr>
          <a:xfrm>
            <a:off x="4837176" y="1783080"/>
            <a:ext cx="1645920" cy="274320"/>
          </a:xfrm>
          <a:prstGeom prst="rect">
            <a:avLst/>
          </a:prstGeom>
          <a:noFill/>
          <a:ln/>
        </p:spPr>
        <p:txBody>
          <a:bodyPr wrap="square" lIns="0" tIns="0" rIns="0" bIns="0" rtlCol="0" anchor="t"/>
          <a:lstStyle/>
          <a:p>
            <a:pPr indent="0" marL="0">
              <a:buNone/>
            </a:pPr>
            <a:r>
              <a:rPr lang="en-US" sz="1300" b="1" dirty="0">
                <a:solidFill>
                  <a:srgbClr val="5E1A2E"/>
                </a:solidFill>
                <a:latin typeface="Calibri" pitchFamily="34" charset="0"/>
                <a:ea typeface="Calibri" pitchFamily="34" charset="-122"/>
                <a:cs typeface="Calibri" pitchFamily="34" charset="-120"/>
              </a:rPr>
              <a:t>INT8 quantization</a:t>
            </a:r>
            <a:endParaRPr lang="en-US" sz="1300" dirty="0"/>
          </a:p>
        </p:txBody>
      </p:sp>
      <p:sp>
        <p:nvSpPr>
          <p:cNvPr id="24" name="Text 21"/>
          <p:cNvSpPr txBox="1"/>
          <p:nvPr/>
        </p:nvSpPr>
        <p:spPr>
          <a:xfrm>
            <a:off x="4837176" y="2084832"/>
            <a:ext cx="1645920" cy="36576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Dynamic quantization</a:t>
            </a:r>
            <a:endParaRPr lang="en-US" sz="1100" dirty="0"/>
          </a:p>
        </p:txBody>
      </p:sp>
      <p:sp>
        <p:nvSpPr>
          <p:cNvPr id="25" name="Text 22"/>
          <p:cNvSpPr txBox="1"/>
          <p:nvPr/>
        </p:nvSpPr>
        <p:spPr>
          <a:xfrm>
            <a:off x="4837176" y="2450592"/>
            <a:ext cx="1645920" cy="27432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3.2 MB</a:t>
            </a:r>
            <a:endParaRPr lang="en-US" sz="1300" dirty="0"/>
          </a:p>
        </p:txBody>
      </p:sp>
      <p:sp>
        <p:nvSpPr>
          <p:cNvPr id="26" name="Shape 23"/>
          <p:cNvSpPr/>
          <p:nvPr/>
        </p:nvSpPr>
        <p:spPr>
          <a:xfrm>
            <a:off x="6592824" y="1874520"/>
            <a:ext cx="192024" cy="228600"/>
          </a:xfrm>
          <a:prstGeom prst="rightArrow">
            <a:avLst/>
          </a:prstGeom>
          <a:solidFill>
            <a:srgbClr val="6B6B6B"/>
          </a:solidFill>
          <a:ln w="12700">
            <a:solidFill>
              <a:srgbClr val="6B6B6B"/>
            </a:solidFill>
            <a:prstDash val="solid"/>
          </a:ln>
        </p:spPr>
      </p:sp>
      <p:sp>
        <p:nvSpPr>
          <p:cNvPr id="27" name="Shape 24"/>
          <p:cNvSpPr/>
          <p:nvPr/>
        </p:nvSpPr>
        <p:spPr>
          <a:xfrm>
            <a:off x="6821424" y="1188720"/>
            <a:ext cx="1874520" cy="1600200"/>
          </a:xfrm>
          <a:prstGeom prst="roundRect">
            <a:avLst>
              <a:gd name="adj" fmla="val 5714"/>
            </a:avLst>
          </a:prstGeom>
          <a:solidFill>
            <a:srgbClr val="F8EFF1"/>
          </a:solidFill>
          <a:ln w="12700">
            <a:solidFill>
              <a:srgbClr val="F8EFF1"/>
            </a:solidFill>
            <a:prstDash val="solid"/>
          </a:ln>
        </p:spPr>
      </p:sp>
      <p:sp>
        <p:nvSpPr>
          <p:cNvPr id="28" name="Shape 25"/>
          <p:cNvSpPr/>
          <p:nvPr/>
        </p:nvSpPr>
        <p:spPr>
          <a:xfrm>
            <a:off x="6958584" y="1325880"/>
            <a:ext cx="347472" cy="347472"/>
          </a:xfrm>
          <a:prstGeom prst="ellipse">
            <a:avLst/>
          </a:prstGeom>
          <a:solidFill>
            <a:srgbClr val="0E7C86"/>
          </a:solidFill>
          <a:ln w="12700">
            <a:solidFill>
              <a:srgbClr val="0E7C86"/>
            </a:solidFill>
            <a:prstDash val="solid"/>
          </a:ln>
        </p:spPr>
      </p:sp>
      <p:sp>
        <p:nvSpPr>
          <p:cNvPr id="29" name="Text 26"/>
          <p:cNvSpPr txBox="1"/>
          <p:nvPr/>
        </p:nvSpPr>
        <p:spPr>
          <a:xfrm>
            <a:off x="6958584" y="13258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7"/>
          <p:cNvSpPr txBox="1"/>
          <p:nvPr/>
        </p:nvSpPr>
        <p:spPr>
          <a:xfrm>
            <a:off x="6958584" y="1783080"/>
            <a:ext cx="1645920" cy="274320"/>
          </a:xfrm>
          <a:prstGeom prst="rect">
            <a:avLst/>
          </a:prstGeom>
          <a:noFill/>
          <a:ln/>
        </p:spPr>
        <p:txBody>
          <a:bodyPr wrap="square" lIns="0" tIns="0" rIns="0" bIns="0" rtlCol="0" anchor="t"/>
          <a:lstStyle/>
          <a:p>
            <a:pPr indent="0" marL="0">
              <a:buNone/>
            </a:pPr>
            <a:r>
              <a:rPr lang="en-US" sz="1300" b="1" dirty="0">
                <a:solidFill>
                  <a:srgbClr val="5E1A2E"/>
                </a:solidFill>
                <a:latin typeface="Calibri" pitchFamily="34" charset="0"/>
                <a:ea typeface="Calibri" pitchFamily="34" charset="-122"/>
                <a:cs typeface="Calibri" pitchFamily="34" charset="-120"/>
              </a:rPr>
              <a:t>ONNX Runtime</a:t>
            </a:r>
            <a:endParaRPr lang="en-US" sz="1300" dirty="0"/>
          </a:p>
        </p:txBody>
      </p:sp>
      <p:sp>
        <p:nvSpPr>
          <p:cNvPr id="31" name="Text 28"/>
          <p:cNvSpPr txBox="1"/>
          <p:nvPr/>
        </p:nvSpPr>
        <p:spPr>
          <a:xfrm>
            <a:off x="6958584" y="2084832"/>
            <a:ext cx="1645920" cy="36576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CPU provider, all 4 ARM cores</a:t>
            </a:r>
            <a:endParaRPr lang="en-US" sz="1100" dirty="0"/>
          </a:p>
        </p:txBody>
      </p:sp>
      <p:sp>
        <p:nvSpPr>
          <p:cNvPr id="32" name="Text 29"/>
          <p:cNvSpPr txBox="1"/>
          <p:nvPr/>
        </p:nvSpPr>
        <p:spPr>
          <a:xfrm>
            <a:off x="6958584" y="2450592"/>
            <a:ext cx="1645920" cy="27432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Deployed</a:t>
            </a:r>
            <a:endParaRPr lang="en-US" sz="1300" dirty="0"/>
          </a:p>
        </p:txBody>
      </p:sp>
      <p:sp>
        <p:nvSpPr>
          <p:cNvPr id="33" name="Text 30"/>
          <p:cNvSpPr txBox="1"/>
          <p:nvPr/>
        </p:nvSpPr>
        <p:spPr>
          <a:xfrm>
            <a:off x="457200" y="3017520"/>
            <a:ext cx="8229600" cy="50292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YOLOv8n (nano): anchor-free single-stage detector with a CSPDarknet backbone, Path Aggregation Network neck, decoupled detection heads and 3.2M parameters.</a:t>
            </a:r>
            <a:endParaRPr lang="en-US" sz="1300" dirty="0"/>
          </a:p>
        </p:txBody>
      </p:sp>
      <p:sp>
        <p:nvSpPr>
          <p:cNvPr id="34" name="Shape 31"/>
          <p:cNvSpPr/>
          <p:nvPr/>
        </p:nvSpPr>
        <p:spPr>
          <a:xfrm>
            <a:off x="457200" y="3611880"/>
            <a:ext cx="2560320" cy="1005840"/>
          </a:xfrm>
          <a:prstGeom prst="roundRect">
            <a:avLst>
              <a:gd name="adj" fmla="val 9091"/>
            </a:avLst>
          </a:prstGeom>
          <a:solidFill>
            <a:srgbClr val="E6F3F4"/>
          </a:solidFill>
          <a:ln w="12700">
            <a:solidFill>
              <a:srgbClr val="E6F3F4"/>
            </a:solidFill>
            <a:prstDash val="solid"/>
          </a:ln>
        </p:spPr>
      </p:sp>
      <p:sp>
        <p:nvSpPr>
          <p:cNvPr id="35" name="Text 32"/>
          <p:cNvSpPr txBox="1"/>
          <p:nvPr/>
        </p:nvSpPr>
        <p:spPr>
          <a:xfrm>
            <a:off x="640080" y="3675888"/>
            <a:ext cx="2194560" cy="548640"/>
          </a:xfrm>
          <a:prstGeom prst="rect">
            <a:avLst/>
          </a:prstGeom>
          <a:noFill/>
          <a:ln/>
        </p:spPr>
        <p:txBody>
          <a:bodyPr wrap="square" lIns="0" tIns="0" rIns="0" bIns="0" rtlCol="0" anchor="t"/>
          <a:lstStyle/>
          <a:p>
            <a:pPr indent="0" marL="0">
              <a:buNone/>
            </a:pPr>
            <a:r>
              <a:rPr lang="en-US" sz="3000" b="1" dirty="0">
                <a:solidFill>
                  <a:srgbClr val="0E7C86"/>
                </a:solidFill>
                <a:latin typeface="Cambria" pitchFamily="34" charset="0"/>
                <a:ea typeface="Cambria" pitchFamily="34" charset="-122"/>
                <a:cs typeface="Cambria" pitchFamily="34" charset="-120"/>
              </a:rPr>
              <a:t>245 ms</a:t>
            </a:r>
            <a:endParaRPr lang="en-US" sz="3000" dirty="0"/>
          </a:p>
        </p:txBody>
      </p:sp>
      <p:sp>
        <p:nvSpPr>
          <p:cNvPr id="36" name="Text 33"/>
          <p:cNvSpPr txBox="1"/>
          <p:nvPr/>
        </p:nvSpPr>
        <p:spPr>
          <a:xfrm>
            <a:off x="640080" y="4224528"/>
            <a:ext cx="2194560" cy="2743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latency per frame</a:t>
            </a:r>
            <a:endParaRPr lang="en-US" sz="1200" dirty="0"/>
          </a:p>
        </p:txBody>
      </p:sp>
      <p:sp>
        <p:nvSpPr>
          <p:cNvPr id="37" name="Shape 34"/>
          <p:cNvSpPr/>
          <p:nvPr/>
        </p:nvSpPr>
        <p:spPr>
          <a:xfrm>
            <a:off x="3291840" y="3611880"/>
            <a:ext cx="2560320" cy="1005840"/>
          </a:xfrm>
          <a:prstGeom prst="roundRect">
            <a:avLst>
              <a:gd name="adj" fmla="val 9091"/>
            </a:avLst>
          </a:prstGeom>
          <a:solidFill>
            <a:srgbClr val="E6F3F4"/>
          </a:solidFill>
          <a:ln w="12700">
            <a:solidFill>
              <a:srgbClr val="E6F3F4"/>
            </a:solidFill>
            <a:prstDash val="solid"/>
          </a:ln>
        </p:spPr>
      </p:sp>
      <p:sp>
        <p:nvSpPr>
          <p:cNvPr id="38" name="Text 35"/>
          <p:cNvSpPr txBox="1"/>
          <p:nvPr/>
        </p:nvSpPr>
        <p:spPr>
          <a:xfrm>
            <a:off x="3474720" y="3675888"/>
            <a:ext cx="2194560" cy="548640"/>
          </a:xfrm>
          <a:prstGeom prst="rect">
            <a:avLst/>
          </a:prstGeom>
          <a:noFill/>
          <a:ln/>
        </p:spPr>
        <p:txBody>
          <a:bodyPr wrap="square" lIns="0" tIns="0" rIns="0" bIns="0" rtlCol="0" anchor="t"/>
          <a:lstStyle/>
          <a:p>
            <a:pPr indent="0" marL="0">
              <a:buNone/>
            </a:pPr>
            <a:r>
              <a:rPr lang="en-US" sz="3000" b="1" dirty="0">
                <a:solidFill>
                  <a:srgbClr val="0E7C86"/>
                </a:solidFill>
                <a:latin typeface="Cambria" pitchFamily="34" charset="0"/>
                <a:ea typeface="Cambria" pitchFamily="34" charset="-122"/>
                <a:cs typeface="Cambria" pitchFamily="34" charset="-120"/>
              </a:rPr>
              <a:t>4.1 FPS</a:t>
            </a:r>
            <a:endParaRPr lang="en-US" sz="3000" dirty="0"/>
          </a:p>
        </p:txBody>
      </p:sp>
      <p:sp>
        <p:nvSpPr>
          <p:cNvPr id="39" name="Text 36"/>
          <p:cNvSpPr txBox="1"/>
          <p:nvPr/>
        </p:nvSpPr>
        <p:spPr>
          <a:xfrm>
            <a:off x="3474720" y="4224528"/>
            <a:ext cx="2194560" cy="2743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live viewfinder rate</a:t>
            </a:r>
            <a:endParaRPr lang="en-US" sz="1200" dirty="0"/>
          </a:p>
        </p:txBody>
      </p:sp>
      <p:sp>
        <p:nvSpPr>
          <p:cNvPr id="40" name="Shape 37"/>
          <p:cNvSpPr/>
          <p:nvPr/>
        </p:nvSpPr>
        <p:spPr>
          <a:xfrm>
            <a:off x="6126480" y="3611880"/>
            <a:ext cx="2560320" cy="1005840"/>
          </a:xfrm>
          <a:prstGeom prst="roundRect">
            <a:avLst>
              <a:gd name="adj" fmla="val 9091"/>
            </a:avLst>
          </a:prstGeom>
          <a:solidFill>
            <a:srgbClr val="E6F3F4"/>
          </a:solidFill>
          <a:ln w="12700">
            <a:solidFill>
              <a:srgbClr val="E6F3F4"/>
            </a:solidFill>
            <a:prstDash val="solid"/>
          </a:ln>
        </p:spPr>
      </p:sp>
      <p:sp>
        <p:nvSpPr>
          <p:cNvPr id="41" name="Text 38"/>
          <p:cNvSpPr txBox="1"/>
          <p:nvPr/>
        </p:nvSpPr>
        <p:spPr>
          <a:xfrm>
            <a:off x="6309360" y="3675888"/>
            <a:ext cx="2194560" cy="548640"/>
          </a:xfrm>
          <a:prstGeom prst="rect">
            <a:avLst/>
          </a:prstGeom>
          <a:noFill/>
          <a:ln/>
        </p:spPr>
        <p:txBody>
          <a:bodyPr wrap="square" lIns="0" tIns="0" rIns="0" bIns="0" rtlCol="0" anchor="t"/>
          <a:lstStyle/>
          <a:p>
            <a:pPr indent="0" marL="0">
              <a:buNone/>
            </a:pPr>
            <a:r>
              <a:rPr lang="en-US" sz="3000" b="1" dirty="0">
                <a:solidFill>
                  <a:srgbClr val="0E7C86"/>
                </a:solidFill>
                <a:latin typeface="Cambria" pitchFamily="34" charset="0"/>
                <a:ea typeface="Cambria" pitchFamily="34" charset="-122"/>
                <a:cs typeface="Cambria" pitchFamily="34" charset="-120"/>
              </a:rPr>
              <a:t>3.4 W</a:t>
            </a:r>
            <a:endParaRPr lang="en-US" sz="3000" dirty="0"/>
          </a:p>
        </p:txBody>
      </p:sp>
      <p:sp>
        <p:nvSpPr>
          <p:cNvPr id="42" name="Text 39"/>
          <p:cNvSpPr txBox="1"/>
          <p:nvPr/>
        </p:nvSpPr>
        <p:spPr>
          <a:xfrm>
            <a:off x="6309360" y="4224528"/>
            <a:ext cx="2194560" cy="2743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sustained power draw</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In-Domain Performance: BCCD Benchmark</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graphicFrame>
        <p:nvGraphicFramePr>
          <p:cNvPr id="5" name="Chart 0" descr=""/>
          <p:cNvGraphicFramePr/>
          <p:nvPr/>
        </p:nvGraphicFramePr>
        <p:xfrm>
          <a:off x="457200" y="1097280"/>
          <a:ext cx="5212080" cy="3246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4407408"/>
            <a:ext cx="5212080" cy="27432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AP@0.5:  WBC 0.985  |  Platelets 0.834  |  RBC 0.749</a:t>
            </a:r>
            <a:endParaRPr lang="en-US" sz="1100" dirty="0"/>
          </a:p>
        </p:txBody>
      </p:sp>
      <p:sp>
        <p:nvSpPr>
          <p:cNvPr id="7" name="Shape 4"/>
          <p:cNvSpPr/>
          <p:nvPr/>
        </p:nvSpPr>
        <p:spPr>
          <a:xfrm>
            <a:off x="5943600" y="1188720"/>
            <a:ext cx="2743200" cy="1005840"/>
          </a:xfrm>
          <a:prstGeom prst="roundRect">
            <a:avLst>
              <a:gd name="adj" fmla="val 9091"/>
            </a:avLst>
          </a:prstGeom>
          <a:solidFill>
            <a:srgbClr val="F8EFF1"/>
          </a:solidFill>
          <a:ln w="12700">
            <a:solidFill>
              <a:srgbClr val="F8EFF1"/>
            </a:solidFill>
            <a:prstDash val="solid"/>
          </a:ln>
        </p:spPr>
      </p:sp>
      <p:sp>
        <p:nvSpPr>
          <p:cNvPr id="8" name="Text 5"/>
          <p:cNvSpPr txBox="1"/>
          <p:nvPr/>
        </p:nvSpPr>
        <p:spPr>
          <a:xfrm>
            <a:off x="6126480" y="1234440"/>
            <a:ext cx="1463040" cy="640080"/>
          </a:xfrm>
          <a:prstGeom prst="rect">
            <a:avLst/>
          </a:prstGeom>
          <a:noFill/>
          <a:ln/>
        </p:spPr>
        <p:txBody>
          <a:bodyPr wrap="square" lIns="0" tIns="0" rIns="0" bIns="0" rtlCol="0" anchor="ctr"/>
          <a:lstStyle/>
          <a:p>
            <a:pPr indent="0" marL="0">
              <a:buNone/>
            </a:pPr>
            <a:r>
              <a:rPr lang="en-US" sz="3200" b="1" dirty="0">
                <a:solidFill>
                  <a:srgbClr val="B3243B"/>
                </a:solidFill>
                <a:latin typeface="Cambria" pitchFamily="34" charset="0"/>
                <a:ea typeface="Cambria" pitchFamily="34" charset="-122"/>
                <a:cs typeface="Cambria" pitchFamily="34" charset="-120"/>
              </a:rPr>
              <a:t>0.856</a:t>
            </a:r>
            <a:endParaRPr lang="en-US" sz="3200" dirty="0"/>
          </a:p>
        </p:txBody>
      </p:sp>
      <p:sp>
        <p:nvSpPr>
          <p:cNvPr id="9" name="Text 6"/>
          <p:cNvSpPr txBox="1"/>
          <p:nvPr/>
        </p:nvSpPr>
        <p:spPr>
          <a:xfrm>
            <a:off x="7452360" y="1298448"/>
            <a:ext cx="1188720" cy="822960"/>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mAP@0.5</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(mAP@0.5:0.95 = 0.617)</a:t>
            </a:r>
            <a:endParaRPr lang="en-US" sz="1050" dirty="0"/>
          </a:p>
        </p:txBody>
      </p:sp>
      <p:sp>
        <p:nvSpPr>
          <p:cNvPr id="10" name="Shape 7"/>
          <p:cNvSpPr/>
          <p:nvPr/>
        </p:nvSpPr>
        <p:spPr>
          <a:xfrm>
            <a:off x="5943600" y="2331720"/>
            <a:ext cx="2743200" cy="1051560"/>
          </a:xfrm>
          <a:prstGeom prst="roundRect">
            <a:avLst>
              <a:gd name="adj" fmla="val 8696"/>
            </a:avLst>
          </a:prstGeom>
          <a:solidFill>
            <a:srgbClr val="F8EFF1"/>
          </a:solidFill>
          <a:ln w="12700">
            <a:solidFill>
              <a:srgbClr val="F8EFF1"/>
            </a:solidFill>
            <a:prstDash val="solid"/>
          </a:ln>
        </p:spPr>
      </p:sp>
      <p:sp>
        <p:nvSpPr>
          <p:cNvPr id="11" name="Text 8"/>
          <p:cNvSpPr txBox="1"/>
          <p:nvPr/>
        </p:nvSpPr>
        <p:spPr>
          <a:xfrm>
            <a:off x="6126480" y="2423160"/>
            <a:ext cx="2423160" cy="868680"/>
          </a:xfrm>
          <a:prstGeom prst="rect">
            <a:avLst/>
          </a:prstGeom>
          <a:noFill/>
          <a:ln/>
        </p:spPr>
        <p:txBody>
          <a:bodyPr wrap="square" lIns="0" tIns="0" rIns="0" bIns="0" rtlCol="0" anchor="t"/>
          <a:lstStyle/>
          <a:p>
            <a:pPr indent="0" marL="0">
              <a:buNone/>
            </a:pPr>
            <a:r>
              <a:rPr lang="en-US" sz="1200" b="1" dirty="0">
                <a:solidFill>
                  <a:srgbClr val="5E1A2E"/>
                </a:solidFill>
                <a:latin typeface="Calibri" pitchFamily="34" charset="0"/>
                <a:ea typeface="Calibri" pitchFamily="34" charset="-122"/>
                <a:cs typeface="Calibri" pitchFamily="34" charset="-120"/>
              </a:rPr>
              <a:t>BCCD dataset</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364 images at 100× magnification; 4,155 RBCs, 372 WBCs, 361 platelets</a:t>
            </a:r>
            <a:endParaRPr lang="en-US" sz="1200" dirty="0"/>
          </a:p>
        </p:txBody>
      </p:sp>
      <p:sp>
        <p:nvSpPr>
          <p:cNvPr id="12" name="Shape 9"/>
          <p:cNvSpPr/>
          <p:nvPr/>
        </p:nvSpPr>
        <p:spPr>
          <a:xfrm>
            <a:off x="5943600" y="3520440"/>
            <a:ext cx="2743200" cy="1097280"/>
          </a:xfrm>
          <a:prstGeom prst="roundRect">
            <a:avLst>
              <a:gd name="adj" fmla="val 8333"/>
            </a:avLst>
          </a:prstGeom>
          <a:solidFill>
            <a:srgbClr val="5E1A2E"/>
          </a:solidFill>
          <a:ln w="12700">
            <a:solidFill>
              <a:srgbClr val="5E1A2E"/>
            </a:solidFill>
            <a:prstDash val="solid"/>
          </a:ln>
        </p:spPr>
      </p:sp>
      <p:sp>
        <p:nvSpPr>
          <p:cNvPr id="13" name="Text 10"/>
          <p:cNvSpPr txBox="1"/>
          <p:nvPr/>
        </p:nvSpPr>
        <p:spPr>
          <a:xfrm>
            <a:off x="6126480" y="3611880"/>
            <a:ext cx="24231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Near-flawless WBC identification and high platelet precision on standardized smears.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Clinical Agreement (CLSI EP09-A3)</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457200" y="1143000"/>
            <a:ext cx="2651760" cy="3017520"/>
          </a:xfrm>
          <a:prstGeom prst="roundRect">
            <a:avLst>
              <a:gd name="adj" fmla="val 3448"/>
            </a:avLst>
          </a:prstGeom>
          <a:solidFill>
            <a:srgbClr val="E6F3F4"/>
          </a:solidFill>
          <a:ln w="12700">
            <a:solidFill>
              <a:srgbClr val="E6F3F4"/>
            </a:solidFill>
            <a:prstDash val="solid"/>
          </a:ln>
        </p:spPr>
      </p:sp>
      <p:sp>
        <p:nvSpPr>
          <p:cNvPr id="7" name="Text 4"/>
          <p:cNvSpPr txBox="1"/>
          <p:nvPr/>
        </p:nvSpPr>
        <p:spPr>
          <a:xfrm>
            <a:off x="640080" y="1280160"/>
            <a:ext cx="2286000" cy="320040"/>
          </a:xfrm>
          <a:prstGeom prst="rect">
            <a:avLst/>
          </a:prstGeom>
          <a:noFill/>
          <a:ln/>
        </p:spPr>
        <p:txBody>
          <a:bodyPr wrap="square" lIns="0" tIns="0" rIns="0" bIns="0" rtlCol="0" anchor="t"/>
          <a:lstStyle/>
          <a:p>
            <a:pPr indent="0" marL="0">
              <a:buNone/>
            </a:pPr>
            <a:r>
              <a:rPr lang="en-US" sz="1500" b="1" dirty="0">
                <a:solidFill>
                  <a:srgbClr val="5E1A2E"/>
                </a:solidFill>
                <a:latin typeface="Calibri" pitchFamily="34" charset="0"/>
                <a:ea typeface="Calibri" pitchFamily="34" charset="-122"/>
                <a:cs typeface="Calibri" pitchFamily="34" charset="-120"/>
              </a:rPr>
              <a:t>White blood cells</a:t>
            </a:r>
            <a:endParaRPr lang="en-US" sz="1500" dirty="0"/>
          </a:p>
        </p:txBody>
      </p:sp>
      <p:sp>
        <p:nvSpPr>
          <p:cNvPr id="8" name="Text 5"/>
          <p:cNvSpPr txBox="1"/>
          <p:nvPr/>
        </p:nvSpPr>
        <p:spPr>
          <a:xfrm>
            <a:off x="640080" y="1645920"/>
            <a:ext cx="2286000" cy="685800"/>
          </a:xfrm>
          <a:prstGeom prst="rect">
            <a:avLst/>
          </a:prstGeom>
          <a:noFill/>
          <a:ln/>
        </p:spPr>
        <p:txBody>
          <a:bodyPr wrap="square" lIns="0" tIns="0" rIns="0" bIns="0" rtlCol="0" anchor="t"/>
          <a:lstStyle/>
          <a:p>
            <a:pPr indent="0" marL="0">
              <a:buNone/>
            </a:pPr>
            <a:r>
              <a:rPr lang="en-US" sz="4000" b="1" dirty="0">
                <a:solidFill>
                  <a:srgbClr val="0E7C86"/>
                </a:solidFill>
                <a:latin typeface="Cambria" pitchFamily="34" charset="0"/>
                <a:ea typeface="Cambria" pitchFamily="34" charset="-122"/>
                <a:cs typeface="Cambria" pitchFamily="34" charset="-120"/>
              </a:rPr>
              <a:t>+0.047</a:t>
            </a:r>
            <a:endParaRPr lang="en-US" sz="4000" dirty="0"/>
          </a:p>
        </p:txBody>
      </p:sp>
      <p:sp>
        <p:nvSpPr>
          <p:cNvPr id="9" name="Text 6"/>
          <p:cNvSpPr txBox="1"/>
          <p:nvPr/>
        </p:nvSpPr>
        <p:spPr>
          <a:xfrm>
            <a:off x="640080" y="2331720"/>
            <a:ext cx="2286000" cy="27432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mean bias, cells per field</a:t>
            </a:r>
            <a:endParaRPr lang="en-US" sz="1200" dirty="0"/>
          </a:p>
        </p:txBody>
      </p:sp>
      <p:sp>
        <p:nvSpPr>
          <p:cNvPr id="10" name="Text 7"/>
          <p:cNvSpPr txBox="1"/>
          <p:nvPr/>
        </p:nvSpPr>
        <p:spPr>
          <a:xfrm>
            <a:off x="640080" y="2743200"/>
            <a:ext cx="2331720" cy="1325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2B2B"/>
                </a:solidFill>
                <a:latin typeface="Calibri" pitchFamily="34" charset="0"/>
                <a:ea typeface="Calibri" pitchFamily="34" charset="-122"/>
                <a:cs typeface="Calibri" pitchFamily="34" charset="-120"/>
              </a:rPr>
              <a:t>Bland-Altman limits of agreement [-1.56, +1.65] cells</a:t>
            </a:r>
            <a:endParaRPr lang="en-US" sz="1200" dirty="0"/>
          </a:p>
          <a:p>
            <a:pPr marL="342900" indent="-342900">
              <a:spcAft>
                <a:spcPts val="600"/>
              </a:spcAft>
              <a:buSzPct val="100000"/>
              <a:buChar char="•"/>
            </a:pPr>
            <a:r>
              <a:rPr lang="en-US" sz="1200" dirty="0">
                <a:solidFill>
                  <a:srgbClr val="2B2B2B"/>
                </a:solidFill>
                <a:latin typeface="Calibri" pitchFamily="34" charset="0"/>
                <a:ea typeface="Calibri" pitchFamily="34" charset="-122"/>
                <a:cs typeface="Calibri" pitchFamily="34" charset="-120"/>
              </a:rPr>
              <a:t>Spearman ρ = 0.771 (p &lt; 0.001)</a:t>
            </a:r>
            <a:endParaRPr lang="en-US" sz="1200" dirty="0"/>
          </a:p>
        </p:txBody>
      </p:sp>
      <p:sp>
        <p:nvSpPr>
          <p:cNvPr id="11" name="Shape 8"/>
          <p:cNvSpPr/>
          <p:nvPr/>
        </p:nvSpPr>
        <p:spPr>
          <a:xfrm>
            <a:off x="3246120" y="1143000"/>
            <a:ext cx="2651760" cy="3017520"/>
          </a:xfrm>
          <a:prstGeom prst="roundRect">
            <a:avLst>
              <a:gd name="adj" fmla="val 3448"/>
            </a:avLst>
          </a:prstGeom>
          <a:solidFill>
            <a:srgbClr val="E6F3F4"/>
          </a:solidFill>
          <a:ln w="12700">
            <a:solidFill>
              <a:srgbClr val="E6F3F4"/>
            </a:solidFill>
            <a:prstDash val="solid"/>
          </a:ln>
        </p:spPr>
      </p:sp>
      <p:sp>
        <p:nvSpPr>
          <p:cNvPr id="12" name="Text 9"/>
          <p:cNvSpPr txBox="1"/>
          <p:nvPr/>
        </p:nvSpPr>
        <p:spPr>
          <a:xfrm>
            <a:off x="3429000" y="1280160"/>
            <a:ext cx="2286000" cy="320040"/>
          </a:xfrm>
          <a:prstGeom prst="rect">
            <a:avLst/>
          </a:prstGeom>
          <a:noFill/>
          <a:ln/>
        </p:spPr>
        <p:txBody>
          <a:bodyPr wrap="square" lIns="0" tIns="0" rIns="0" bIns="0" rtlCol="0" anchor="t"/>
          <a:lstStyle/>
          <a:p>
            <a:pPr indent="0" marL="0">
              <a:buNone/>
            </a:pPr>
            <a:r>
              <a:rPr lang="en-US" sz="1500" b="1" dirty="0">
                <a:solidFill>
                  <a:srgbClr val="5E1A2E"/>
                </a:solidFill>
                <a:latin typeface="Calibri" pitchFamily="34" charset="0"/>
                <a:ea typeface="Calibri" pitchFamily="34" charset="-122"/>
                <a:cs typeface="Calibri" pitchFamily="34" charset="-120"/>
              </a:rPr>
              <a:t>Platelets</a:t>
            </a:r>
            <a:endParaRPr lang="en-US" sz="1500" dirty="0"/>
          </a:p>
        </p:txBody>
      </p:sp>
      <p:sp>
        <p:nvSpPr>
          <p:cNvPr id="13" name="Text 10"/>
          <p:cNvSpPr txBox="1"/>
          <p:nvPr/>
        </p:nvSpPr>
        <p:spPr>
          <a:xfrm>
            <a:off x="3429000" y="1645920"/>
            <a:ext cx="2286000" cy="685800"/>
          </a:xfrm>
          <a:prstGeom prst="rect">
            <a:avLst/>
          </a:prstGeom>
          <a:noFill/>
          <a:ln/>
        </p:spPr>
        <p:txBody>
          <a:bodyPr wrap="square" lIns="0" tIns="0" rIns="0" bIns="0" rtlCol="0" anchor="t"/>
          <a:lstStyle/>
          <a:p>
            <a:pPr indent="0" marL="0">
              <a:buNone/>
            </a:pPr>
            <a:r>
              <a:rPr lang="en-US" sz="4000" b="1" dirty="0">
                <a:solidFill>
                  <a:srgbClr val="0E7C86"/>
                </a:solidFill>
                <a:latin typeface="Cambria" pitchFamily="34" charset="0"/>
                <a:ea typeface="Cambria" pitchFamily="34" charset="-122"/>
                <a:cs typeface="Cambria" pitchFamily="34" charset="-120"/>
              </a:rPr>
              <a:t>0.862</a:t>
            </a:r>
            <a:endParaRPr lang="en-US" sz="4000" dirty="0"/>
          </a:p>
        </p:txBody>
      </p:sp>
      <p:sp>
        <p:nvSpPr>
          <p:cNvPr id="14" name="Text 11"/>
          <p:cNvSpPr txBox="1"/>
          <p:nvPr/>
        </p:nvSpPr>
        <p:spPr>
          <a:xfrm>
            <a:off x="3429000" y="2331720"/>
            <a:ext cx="2286000" cy="27432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ICC(2,1) agreement</a:t>
            </a:r>
            <a:endParaRPr lang="en-US" sz="1200" dirty="0"/>
          </a:p>
        </p:txBody>
      </p:sp>
      <p:sp>
        <p:nvSpPr>
          <p:cNvPr id="15" name="Text 12"/>
          <p:cNvSpPr txBox="1"/>
          <p:nvPr/>
        </p:nvSpPr>
        <p:spPr>
          <a:xfrm>
            <a:off x="3429000" y="2743200"/>
            <a:ext cx="2331720" cy="1325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2B2B"/>
                </a:solidFill>
                <a:latin typeface="Calibri" pitchFamily="34" charset="0"/>
                <a:ea typeface="Calibri" pitchFamily="34" charset="-122"/>
                <a:cs typeface="Calibri" pitchFamily="34" charset="-120"/>
              </a:rPr>
              <a:t>Deming regression slope 1.012, near identity</a:t>
            </a:r>
            <a:endParaRPr lang="en-US" sz="1200" dirty="0"/>
          </a:p>
          <a:p>
            <a:pPr marL="342900" indent="-342900">
              <a:spcAft>
                <a:spcPts val="600"/>
              </a:spcAft>
              <a:buSzPct val="100000"/>
              <a:buChar char="•"/>
            </a:pPr>
            <a:r>
              <a:rPr lang="en-US" sz="1200" dirty="0">
                <a:solidFill>
                  <a:srgbClr val="2B2B2B"/>
                </a:solidFill>
                <a:latin typeface="Calibri" pitchFamily="34" charset="0"/>
                <a:ea typeface="Calibri" pitchFamily="34" charset="-122"/>
                <a:cs typeface="Calibri" pitchFamily="34" charset="-120"/>
              </a:rPr>
              <a:t>Bias -0.456; limits [-4.20, +3.28]</a:t>
            </a:r>
            <a:endParaRPr lang="en-US" sz="1200" dirty="0"/>
          </a:p>
        </p:txBody>
      </p:sp>
      <p:sp>
        <p:nvSpPr>
          <p:cNvPr id="16" name="Shape 13"/>
          <p:cNvSpPr/>
          <p:nvPr/>
        </p:nvSpPr>
        <p:spPr>
          <a:xfrm>
            <a:off x="6035040" y="1143000"/>
            <a:ext cx="2651760" cy="3017520"/>
          </a:xfrm>
          <a:prstGeom prst="roundRect">
            <a:avLst>
              <a:gd name="adj" fmla="val 3448"/>
            </a:avLst>
          </a:prstGeom>
          <a:solidFill>
            <a:srgbClr val="F8EFF1"/>
          </a:solidFill>
          <a:ln w="12700">
            <a:solidFill>
              <a:srgbClr val="F8EFF1"/>
            </a:solidFill>
            <a:prstDash val="solid"/>
          </a:ln>
        </p:spPr>
      </p:sp>
      <p:sp>
        <p:nvSpPr>
          <p:cNvPr id="17" name="Text 14"/>
          <p:cNvSpPr txBox="1"/>
          <p:nvPr/>
        </p:nvSpPr>
        <p:spPr>
          <a:xfrm>
            <a:off x="6217920" y="1280160"/>
            <a:ext cx="2286000" cy="320040"/>
          </a:xfrm>
          <a:prstGeom prst="rect">
            <a:avLst/>
          </a:prstGeom>
          <a:noFill/>
          <a:ln/>
        </p:spPr>
        <p:txBody>
          <a:bodyPr wrap="square" lIns="0" tIns="0" rIns="0" bIns="0" rtlCol="0" anchor="t"/>
          <a:lstStyle/>
          <a:p>
            <a:pPr indent="0" marL="0">
              <a:buNone/>
            </a:pPr>
            <a:r>
              <a:rPr lang="en-US" sz="1500" b="1" dirty="0">
                <a:solidFill>
                  <a:srgbClr val="5E1A2E"/>
                </a:solidFill>
                <a:latin typeface="Calibri" pitchFamily="34" charset="0"/>
                <a:ea typeface="Calibri" pitchFamily="34" charset="-122"/>
                <a:cs typeface="Calibri" pitchFamily="34" charset="-120"/>
              </a:rPr>
              <a:t>Red blood cells</a:t>
            </a:r>
            <a:endParaRPr lang="en-US" sz="1500" dirty="0"/>
          </a:p>
        </p:txBody>
      </p:sp>
      <p:sp>
        <p:nvSpPr>
          <p:cNvPr id="18" name="Text 15"/>
          <p:cNvSpPr txBox="1"/>
          <p:nvPr/>
        </p:nvSpPr>
        <p:spPr>
          <a:xfrm>
            <a:off x="6217920" y="1645920"/>
            <a:ext cx="2286000" cy="685800"/>
          </a:xfrm>
          <a:prstGeom prst="rect">
            <a:avLst/>
          </a:prstGeom>
          <a:noFill/>
          <a:ln/>
        </p:spPr>
        <p:txBody>
          <a:bodyPr wrap="square" lIns="0" tIns="0" rIns="0" bIns="0" rtlCol="0" anchor="t"/>
          <a:lstStyle/>
          <a:p>
            <a:pPr indent="0" marL="0">
              <a:buNone/>
            </a:pPr>
            <a:r>
              <a:rPr lang="en-US" sz="4000" b="1" dirty="0">
                <a:solidFill>
                  <a:srgbClr val="B3243B"/>
                </a:solidFill>
                <a:latin typeface="Cambria" pitchFamily="34" charset="0"/>
                <a:ea typeface="Cambria" pitchFamily="34" charset="-122"/>
                <a:cs typeface="Cambria" pitchFamily="34" charset="-120"/>
              </a:rPr>
              <a:t>0.112</a:t>
            </a:r>
            <a:endParaRPr lang="en-US" sz="4000" dirty="0"/>
          </a:p>
        </p:txBody>
      </p:sp>
      <p:sp>
        <p:nvSpPr>
          <p:cNvPr id="19" name="Text 16"/>
          <p:cNvSpPr txBox="1"/>
          <p:nvPr/>
        </p:nvSpPr>
        <p:spPr>
          <a:xfrm>
            <a:off x="6217920" y="2331720"/>
            <a:ext cx="2286000" cy="27432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ICC(2,1) agreement</a:t>
            </a:r>
            <a:endParaRPr lang="en-US" sz="1200" dirty="0"/>
          </a:p>
        </p:txBody>
      </p:sp>
      <p:sp>
        <p:nvSpPr>
          <p:cNvPr id="20" name="Text 17"/>
          <p:cNvSpPr txBox="1"/>
          <p:nvPr/>
        </p:nvSpPr>
        <p:spPr>
          <a:xfrm>
            <a:off x="6217920" y="2743200"/>
            <a:ext cx="2331720" cy="1325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2B2B"/>
                </a:solidFill>
                <a:latin typeface="Calibri" pitchFamily="34" charset="0"/>
                <a:ea typeface="Calibri" pitchFamily="34" charset="-122"/>
                <a:cs typeface="Calibri" pitchFamily="34" charset="-120"/>
              </a:rPr>
              <a:t>Recall is high (0.96), but count agreement is low</a:t>
            </a:r>
            <a:endParaRPr lang="en-US" sz="1200" dirty="0"/>
          </a:p>
          <a:p>
            <a:pPr marL="342900" indent="-342900">
              <a:spcAft>
                <a:spcPts val="600"/>
              </a:spcAft>
              <a:buSzPct val="100000"/>
              <a:buChar char="•"/>
            </a:pPr>
            <a:r>
              <a:rPr lang="en-US" sz="1200" dirty="0">
                <a:solidFill>
                  <a:srgbClr val="2B2B2B"/>
                </a:solidFill>
                <a:latin typeface="Calibri" pitchFamily="34" charset="0"/>
                <a:ea typeface="Calibri" pitchFamily="34" charset="-122"/>
                <a:cs typeface="Calibri" pitchFamily="34" charset="-120"/>
              </a:rPr>
              <a:t>Overlap at ~700:1 density gives 4,042 partial-edge false positives</a:t>
            </a:r>
            <a:endParaRPr lang="en-US" sz="1200" dirty="0"/>
          </a:p>
        </p:txBody>
      </p:sp>
      <p:sp>
        <p:nvSpPr>
          <p:cNvPr id="21" name="Text 18"/>
          <p:cNvSpPr txBox="1"/>
          <p:nvPr/>
        </p:nvSpPr>
        <p:spPr>
          <a:xfrm>
            <a:off x="457200" y="4297680"/>
            <a:ext cx="8229600" cy="320040"/>
          </a:xfrm>
          <a:prstGeom prst="rect">
            <a:avLst/>
          </a:prstGeom>
          <a:noFill/>
          <a:ln/>
        </p:spPr>
        <p:txBody>
          <a:bodyPr wrap="square" lIns="0" tIns="0" rIns="0" bIns="0" rtlCol="0" anchor="t"/>
          <a:lstStyle/>
          <a:p>
            <a:pPr algn="ctr" indent="0" marL="0">
              <a:buNone/>
            </a:pPr>
            <a:r>
              <a:rPr lang="en-US" sz="1300" b="1" dirty="0">
                <a:solidFill>
                  <a:srgbClr val="5E1A2E"/>
                </a:solidFill>
                <a:latin typeface="Calibri" pitchFamily="34" charset="0"/>
                <a:ea typeface="Calibri" pitchFamily="34" charset="-122"/>
                <a:cs typeface="Calibri" pitchFamily="34" charset="-120"/>
              </a:rPr>
              <a:t>Evaluated against CLSI EP09-A3 method-comparison standards, not just detection mAP.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Out-of-Distribution Test: Clinical 72</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graphicFrame>
        <p:nvGraphicFramePr>
          <p:cNvPr id="6" name="Chart 0" descr=""/>
          <p:cNvGraphicFramePr/>
          <p:nvPr/>
        </p:nvGraphicFramePr>
        <p:xfrm>
          <a:off x="457200" y="1097280"/>
          <a:ext cx="4206240" cy="35204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4937760" y="1188720"/>
            <a:ext cx="3749040" cy="23774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B2B2B"/>
                </a:solidFill>
                <a:latin typeface="Calibri" pitchFamily="34" charset="0"/>
                <a:ea typeface="Calibri" pitchFamily="34" charset="-122"/>
                <a:cs typeface="Calibri" pitchFamily="34" charset="-120"/>
              </a:rPr>
              <a:t>72 real clinical smears from an independent hospital laboratory, evaluated zero-shot.</a:t>
            </a:r>
            <a:endParaRPr lang="en-US" sz="1300" dirty="0"/>
          </a:p>
          <a:p>
            <a:pPr marL="342900" indent="-342900">
              <a:spcAft>
                <a:spcPts val="700"/>
              </a:spcAft>
              <a:buSzPct val="100000"/>
              <a:buChar char="•"/>
            </a:pPr>
            <a:r>
              <a:rPr lang="en-US" sz="1300" dirty="0">
                <a:solidFill>
                  <a:srgbClr val="2B2B2B"/>
                </a:solidFill>
                <a:latin typeface="Calibri" pitchFamily="34" charset="0"/>
                <a:ea typeface="Calibri" pitchFamily="34" charset="-122"/>
                <a:cs typeface="Calibri" pitchFamily="34" charset="-120"/>
              </a:rPr>
              <a:t>Stain duration, buffer pH and lighting temperature shift Romanowsky dye appearance.</a:t>
            </a:r>
            <a:endParaRPr lang="en-US" sz="1300" dirty="0"/>
          </a:p>
          <a:p>
            <a:pPr marL="342900" indent="-342900">
              <a:spcAft>
                <a:spcPts val="700"/>
              </a:spcAft>
              <a:buSzPct val="100000"/>
              <a:buChar char="•"/>
            </a:pPr>
            <a:r>
              <a:rPr lang="en-US" sz="1300" dirty="0">
                <a:solidFill>
                  <a:srgbClr val="2B2B2B"/>
                </a:solidFill>
                <a:latin typeface="Calibri" pitchFamily="34" charset="0"/>
                <a:ea typeface="Calibri" pitchFamily="34" charset="-122"/>
                <a:cs typeface="Calibri" pitchFamily="34" charset="-120"/>
              </a:rPr>
              <a:t>Leukocytes stayed robust: F1 0.82, precision 0.958, AP@0.5 0.691.</a:t>
            </a:r>
            <a:endParaRPr lang="en-US" sz="1300" dirty="0"/>
          </a:p>
          <a:p>
            <a:pPr marL="342900" indent="-342900">
              <a:spcAft>
                <a:spcPts val="700"/>
              </a:spcAft>
              <a:buSzPct val="100000"/>
              <a:buChar char="•"/>
            </a:pPr>
            <a:r>
              <a:rPr lang="en-US" sz="1300" dirty="0">
                <a:solidFill>
                  <a:srgbClr val="2B2B2B"/>
                </a:solidFill>
                <a:latin typeface="Calibri" pitchFamily="34" charset="0"/>
                <a:ea typeface="Calibri" pitchFamily="34" charset="-122"/>
                <a:cs typeface="Calibri" pitchFamily="34" charset="-120"/>
              </a:rPr>
              <a:t>Platelets dropped sharply: recall 0.123, F1 0.173, AP@0.5 0.057.</a:t>
            </a:r>
            <a:endParaRPr lang="en-US" sz="1300" dirty="0"/>
          </a:p>
        </p:txBody>
      </p:sp>
      <p:sp>
        <p:nvSpPr>
          <p:cNvPr id="8" name="Shape 4"/>
          <p:cNvSpPr/>
          <p:nvPr/>
        </p:nvSpPr>
        <p:spPr>
          <a:xfrm>
            <a:off x="4937760" y="3657600"/>
            <a:ext cx="3749040" cy="960120"/>
          </a:xfrm>
          <a:prstGeom prst="roundRect">
            <a:avLst>
              <a:gd name="adj" fmla="val 9524"/>
            </a:avLst>
          </a:prstGeom>
          <a:solidFill>
            <a:srgbClr val="5E1A2E"/>
          </a:solidFill>
          <a:ln w="12700">
            <a:solidFill>
              <a:srgbClr val="5E1A2E"/>
            </a:solidFill>
            <a:prstDash val="solid"/>
          </a:ln>
        </p:spPr>
      </p:sp>
      <p:sp>
        <p:nvSpPr>
          <p:cNvPr id="9" name="Text 5"/>
          <p:cNvSpPr txBox="1"/>
          <p:nvPr/>
        </p:nvSpPr>
        <p:spPr>
          <a:xfrm>
            <a:off x="5120640" y="3703320"/>
            <a:ext cx="338328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Platelets lack dense nuclei, so focal drift and color changes easily mask them.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Domain Adaptation Pipeline</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457200" y="1188720"/>
            <a:ext cx="4023360" cy="1600200"/>
          </a:xfrm>
          <a:prstGeom prst="roundRect">
            <a:avLst>
              <a:gd name="adj" fmla="val 5714"/>
            </a:avLst>
          </a:prstGeom>
          <a:solidFill>
            <a:srgbClr val="F8EFF1"/>
          </a:solidFill>
          <a:ln w="12700">
            <a:solidFill>
              <a:srgbClr val="F8EFF1"/>
            </a:solidFill>
            <a:prstDash val="solid"/>
          </a:ln>
        </p:spPr>
      </p:sp>
      <p:sp>
        <p:nvSpPr>
          <p:cNvPr id="6" name="Shape 4"/>
          <p:cNvSpPr/>
          <p:nvPr/>
        </p:nvSpPr>
        <p:spPr>
          <a:xfrm>
            <a:off x="658368" y="1417320"/>
            <a:ext cx="457200" cy="457200"/>
          </a:xfrm>
          <a:prstGeom prst="ellipse">
            <a:avLst/>
          </a:prstGeom>
          <a:solidFill>
            <a:srgbClr val="B3243B"/>
          </a:solidFill>
          <a:ln w="12700">
            <a:solidFill>
              <a:srgbClr val="B3243B"/>
            </a:solidFill>
            <a:prstDash val="solid"/>
          </a:ln>
        </p:spPr>
      </p:sp>
      <p:sp>
        <p:nvSpPr>
          <p:cNvPr id="7" name="Text 5"/>
          <p:cNvSpPr txBox="1"/>
          <p:nvPr/>
        </p:nvSpPr>
        <p:spPr>
          <a:xfrm>
            <a:off x="658368" y="1417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25880" y="1371600"/>
            <a:ext cx="3017520" cy="365760"/>
          </a:xfrm>
          <a:prstGeom prst="rect">
            <a:avLst/>
          </a:prstGeom>
          <a:noFill/>
          <a:ln/>
        </p:spPr>
        <p:txBody>
          <a:bodyPr wrap="square" lIns="0" tIns="0" rIns="0" bIns="0" rtlCol="0" anchor="ctr"/>
          <a:lstStyle/>
          <a:p>
            <a:pPr indent="0" marL="0">
              <a:buNone/>
            </a:pPr>
            <a:r>
              <a:rPr lang="en-US" sz="1500" b="1" dirty="0">
                <a:solidFill>
                  <a:srgbClr val="5E1A2E"/>
                </a:solidFill>
                <a:latin typeface="Calibri" pitchFamily="34" charset="0"/>
                <a:ea typeface="Calibri" pitchFamily="34" charset="-122"/>
                <a:cs typeface="Calibri" pitchFamily="34" charset="-120"/>
              </a:rPr>
              <a:t>Invariance-augmented training</a:t>
            </a:r>
            <a:endParaRPr lang="en-US" sz="1500" dirty="0"/>
          </a:p>
        </p:txBody>
      </p:sp>
      <p:sp>
        <p:nvSpPr>
          <p:cNvPr id="9" name="Text 7"/>
          <p:cNvSpPr txBox="1"/>
          <p:nvPr/>
        </p:nvSpPr>
        <p:spPr>
          <a:xfrm>
            <a:off x="1325880" y="1810512"/>
            <a:ext cx="3017520" cy="9144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180° rotation, vertical flips (p = 0.5), MixUp regularizer 0.15, dropout 0.1</a:t>
            </a:r>
            <a:endParaRPr lang="en-US" sz="1250" dirty="0"/>
          </a:p>
        </p:txBody>
      </p:sp>
      <p:sp>
        <p:nvSpPr>
          <p:cNvPr id="10" name="Shape 8"/>
          <p:cNvSpPr/>
          <p:nvPr/>
        </p:nvSpPr>
        <p:spPr>
          <a:xfrm>
            <a:off x="4663440" y="1188720"/>
            <a:ext cx="4023360" cy="1600200"/>
          </a:xfrm>
          <a:prstGeom prst="roundRect">
            <a:avLst>
              <a:gd name="adj" fmla="val 5714"/>
            </a:avLst>
          </a:prstGeom>
          <a:solidFill>
            <a:srgbClr val="F8EFF1"/>
          </a:solidFill>
          <a:ln w="12700">
            <a:solidFill>
              <a:srgbClr val="F8EFF1"/>
            </a:solidFill>
            <a:prstDash val="solid"/>
          </a:ln>
        </p:spPr>
      </p:sp>
      <p:sp>
        <p:nvSpPr>
          <p:cNvPr id="11" name="Shape 9"/>
          <p:cNvSpPr/>
          <p:nvPr/>
        </p:nvSpPr>
        <p:spPr>
          <a:xfrm>
            <a:off x="4864608" y="1417320"/>
            <a:ext cx="457200" cy="457200"/>
          </a:xfrm>
          <a:prstGeom prst="ellipse">
            <a:avLst/>
          </a:prstGeom>
          <a:solidFill>
            <a:srgbClr val="B3243B"/>
          </a:solidFill>
          <a:ln w="12700">
            <a:solidFill>
              <a:srgbClr val="B3243B"/>
            </a:solidFill>
            <a:prstDash val="solid"/>
          </a:ln>
        </p:spPr>
      </p:sp>
      <p:sp>
        <p:nvSpPr>
          <p:cNvPr id="12" name="Text 10"/>
          <p:cNvSpPr txBox="1"/>
          <p:nvPr/>
        </p:nvSpPr>
        <p:spPr>
          <a:xfrm>
            <a:off x="4864608" y="1417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5532120" y="1371600"/>
            <a:ext cx="3017520" cy="365760"/>
          </a:xfrm>
          <a:prstGeom prst="rect">
            <a:avLst/>
          </a:prstGeom>
          <a:noFill/>
          <a:ln/>
        </p:spPr>
        <p:txBody>
          <a:bodyPr wrap="square" lIns="0" tIns="0" rIns="0" bIns="0" rtlCol="0" anchor="ctr"/>
          <a:lstStyle/>
          <a:p>
            <a:pPr indent="0" marL="0">
              <a:buNone/>
            </a:pPr>
            <a:r>
              <a:rPr lang="en-US" sz="1500" b="1" dirty="0">
                <a:solidFill>
                  <a:srgbClr val="5E1A2E"/>
                </a:solidFill>
                <a:latin typeface="Calibri" pitchFamily="34" charset="0"/>
                <a:ea typeface="Calibri" pitchFamily="34" charset="-122"/>
                <a:cs typeface="Calibri" pitchFamily="34" charset="-120"/>
              </a:rPr>
              <a:t>Reinhard stain normalization</a:t>
            </a:r>
            <a:endParaRPr lang="en-US" sz="1500" dirty="0"/>
          </a:p>
        </p:txBody>
      </p:sp>
      <p:sp>
        <p:nvSpPr>
          <p:cNvPr id="14" name="Text 12"/>
          <p:cNvSpPr txBox="1"/>
          <p:nvPr/>
        </p:nvSpPr>
        <p:spPr>
          <a:xfrm>
            <a:off x="5532120" y="1810512"/>
            <a:ext cx="3017520" cy="9144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Aligns image color mean and standard deviation in CIELAB space to a standardized BCCD reference smear</a:t>
            </a:r>
            <a:endParaRPr lang="en-US" sz="1250" dirty="0"/>
          </a:p>
        </p:txBody>
      </p:sp>
      <p:sp>
        <p:nvSpPr>
          <p:cNvPr id="15" name="Shape 13"/>
          <p:cNvSpPr/>
          <p:nvPr/>
        </p:nvSpPr>
        <p:spPr>
          <a:xfrm>
            <a:off x="457200" y="2971800"/>
            <a:ext cx="4023360" cy="1600200"/>
          </a:xfrm>
          <a:prstGeom prst="roundRect">
            <a:avLst>
              <a:gd name="adj" fmla="val 5714"/>
            </a:avLst>
          </a:prstGeom>
          <a:solidFill>
            <a:srgbClr val="F8EFF1"/>
          </a:solidFill>
          <a:ln w="12700">
            <a:solidFill>
              <a:srgbClr val="F8EFF1"/>
            </a:solidFill>
            <a:prstDash val="solid"/>
          </a:ln>
        </p:spPr>
      </p:sp>
      <p:sp>
        <p:nvSpPr>
          <p:cNvPr id="16" name="Shape 14"/>
          <p:cNvSpPr/>
          <p:nvPr/>
        </p:nvSpPr>
        <p:spPr>
          <a:xfrm>
            <a:off x="658368" y="3200400"/>
            <a:ext cx="457200" cy="457200"/>
          </a:xfrm>
          <a:prstGeom prst="ellipse">
            <a:avLst/>
          </a:prstGeom>
          <a:solidFill>
            <a:srgbClr val="B3243B"/>
          </a:solidFill>
          <a:ln w="12700">
            <a:solidFill>
              <a:srgbClr val="B3243B"/>
            </a:solidFill>
            <a:prstDash val="solid"/>
          </a:ln>
        </p:spPr>
      </p:sp>
      <p:sp>
        <p:nvSpPr>
          <p:cNvPr id="17" name="Text 15"/>
          <p:cNvSpPr txBox="1"/>
          <p:nvPr/>
        </p:nvSpPr>
        <p:spPr>
          <a:xfrm>
            <a:off x="658368"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325880" y="3154680"/>
            <a:ext cx="3017520" cy="365760"/>
          </a:xfrm>
          <a:prstGeom prst="rect">
            <a:avLst/>
          </a:prstGeom>
          <a:noFill/>
          <a:ln/>
        </p:spPr>
        <p:txBody>
          <a:bodyPr wrap="square" lIns="0" tIns="0" rIns="0" bIns="0" rtlCol="0" anchor="ctr"/>
          <a:lstStyle/>
          <a:p>
            <a:pPr indent="0" marL="0">
              <a:buNone/>
            </a:pPr>
            <a:r>
              <a:rPr lang="en-US" sz="1500" b="1" dirty="0">
                <a:solidFill>
                  <a:srgbClr val="5E1A2E"/>
                </a:solidFill>
                <a:latin typeface="Calibri" pitchFamily="34" charset="0"/>
                <a:ea typeface="Calibri" pitchFamily="34" charset="-122"/>
                <a:cs typeface="Calibri" pitchFamily="34" charset="-120"/>
              </a:rPr>
              <a:t>CLAHE</a:t>
            </a:r>
            <a:endParaRPr lang="en-US" sz="1500" dirty="0"/>
          </a:p>
        </p:txBody>
      </p:sp>
      <p:sp>
        <p:nvSpPr>
          <p:cNvPr id="19" name="Text 17"/>
          <p:cNvSpPr txBox="1"/>
          <p:nvPr/>
        </p:nvSpPr>
        <p:spPr>
          <a:xfrm>
            <a:off x="1325880" y="3593592"/>
            <a:ext cx="3017520" cy="9144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Contrast-limited adaptive histogram equalization on the L channel (clip limit 2.0, 8 × 8 grid) to sharpen cell boundaries</a:t>
            </a:r>
            <a:endParaRPr lang="en-US" sz="1250" dirty="0"/>
          </a:p>
        </p:txBody>
      </p:sp>
      <p:sp>
        <p:nvSpPr>
          <p:cNvPr id="20" name="Shape 18"/>
          <p:cNvSpPr/>
          <p:nvPr/>
        </p:nvSpPr>
        <p:spPr>
          <a:xfrm>
            <a:off x="4663440" y="2971800"/>
            <a:ext cx="4023360" cy="1600200"/>
          </a:xfrm>
          <a:prstGeom prst="roundRect">
            <a:avLst>
              <a:gd name="adj" fmla="val 5714"/>
            </a:avLst>
          </a:prstGeom>
          <a:solidFill>
            <a:srgbClr val="F8EFF1"/>
          </a:solidFill>
          <a:ln w="12700">
            <a:solidFill>
              <a:srgbClr val="F8EFF1"/>
            </a:solidFill>
            <a:prstDash val="solid"/>
          </a:ln>
        </p:spPr>
      </p:sp>
      <p:sp>
        <p:nvSpPr>
          <p:cNvPr id="21" name="Shape 19"/>
          <p:cNvSpPr/>
          <p:nvPr/>
        </p:nvSpPr>
        <p:spPr>
          <a:xfrm>
            <a:off x="4864608" y="3200400"/>
            <a:ext cx="457200" cy="457200"/>
          </a:xfrm>
          <a:prstGeom prst="ellipse">
            <a:avLst/>
          </a:prstGeom>
          <a:solidFill>
            <a:srgbClr val="0E7C86"/>
          </a:solidFill>
          <a:ln w="12700">
            <a:solidFill>
              <a:srgbClr val="0E7C86"/>
            </a:solidFill>
            <a:prstDash val="solid"/>
          </a:ln>
        </p:spPr>
      </p:sp>
      <p:sp>
        <p:nvSpPr>
          <p:cNvPr id="22" name="Text 20"/>
          <p:cNvSpPr txBox="1"/>
          <p:nvPr/>
        </p:nvSpPr>
        <p:spPr>
          <a:xfrm>
            <a:off x="4864608"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532120" y="3154680"/>
            <a:ext cx="3017520" cy="365760"/>
          </a:xfrm>
          <a:prstGeom prst="rect">
            <a:avLst/>
          </a:prstGeom>
          <a:noFill/>
          <a:ln/>
        </p:spPr>
        <p:txBody>
          <a:bodyPr wrap="square" lIns="0" tIns="0" rIns="0" bIns="0" rtlCol="0" anchor="ctr"/>
          <a:lstStyle/>
          <a:p>
            <a:pPr indent="0" marL="0">
              <a:buNone/>
            </a:pPr>
            <a:r>
              <a:rPr lang="en-US" sz="1500" b="1" dirty="0">
                <a:solidFill>
                  <a:srgbClr val="5E1A2E"/>
                </a:solidFill>
                <a:latin typeface="Calibri" pitchFamily="34" charset="0"/>
                <a:ea typeface="Calibri" pitchFamily="34" charset="-122"/>
                <a:cs typeface="Calibri" pitchFamily="34" charset="-120"/>
              </a:rPr>
              <a:t>Lineage-specific thresholding</a:t>
            </a:r>
            <a:endParaRPr lang="en-US" sz="1500" dirty="0"/>
          </a:p>
        </p:txBody>
      </p:sp>
      <p:sp>
        <p:nvSpPr>
          <p:cNvPr id="24" name="Text 22"/>
          <p:cNvSpPr txBox="1"/>
          <p:nvPr/>
        </p:nvSpPr>
        <p:spPr>
          <a:xfrm>
            <a:off x="5532120" y="3593592"/>
            <a:ext cx="3017520" cy="9144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Decoupled decision boundaries: τ(PLT) = 0.15 and τ(RBC/WBC) = 0.25</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Generalization Ablation Study</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20240"/>
                <a:gridCol w="1280160"/>
                <a:gridCol w="1280160"/>
                <a:gridCol w="1188720"/>
                <a:gridCol w="822960"/>
                <a:gridCol w="548640"/>
                <a:gridCol w="548640"/>
                <a:gridCol w="640080"/>
              </a:tblGrid>
              <a:tr h="3840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Configuration</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5E1A2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Split</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5E1A2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Preprocessing</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5E1A2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Post-processing</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5E1A2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mAP@0.5</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5E1A2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RBC F1</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5E1A2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WBC F1</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5E1A2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PLT F1</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5E1A2E"/>
                    </a:solidFill>
                  </a:tcPr>
                </a:tc>
              </a:tr>
              <a:tr h="384048">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(a) Baseline YOLOv8n</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BCCD test, n=364</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Default τ=0.25</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0.856</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0.65</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0.98</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0.84</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(b) Baseline zero-shot</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Clinical 72, n=72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Default τ=0.25</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0.410</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0.82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0.17</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r>
              <a:tr h="384048">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 Retrained v2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Clinical 72, n=72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Default τ=0.25</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0.411</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0.67</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0.82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0.06</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 Retrain + Stain Norm</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Clinical 72, n=72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Reinhard + CLAHE</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Default τ=0.25</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0.398</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0.66</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0.82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0.03</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r>
              <a:tr h="384048">
                <a:tc>
                  <a:txBody>
                    <a:bodyPr/>
                    <a:lstStyle/>
                    <a:p>
                      <a:pPr algn="l" indent="0" marL="0">
                        <a:buNone/>
                      </a:pPr>
                      <a:r>
                        <a:rPr lang="en-US" sz="1050" b="1" dirty="0">
                          <a:solidFill>
                            <a:srgbClr val="2B2B2B"/>
                          </a:solidFill>
                          <a:latin typeface="Calibri" pitchFamily="34" charset="0"/>
                          <a:ea typeface="Calibri" pitchFamily="34" charset="-122"/>
                          <a:cs typeface="Calibri" pitchFamily="34" charset="-120"/>
                        </a:rPr>
                        <a:t>(e) Retrain + Thresholding</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CFE9EB"/>
                    </a:solidFill>
                  </a:tcPr>
                </a:tc>
                <a:tc>
                  <a:txBody>
                    <a:bodyPr/>
                    <a:lstStyle/>
                    <a:p>
                      <a:pPr algn="l" indent="0" marL="0">
                        <a:buNone/>
                      </a:pPr>
                      <a:r>
                        <a:rPr lang="en-US" sz="1050" b="1" dirty="0">
                          <a:solidFill>
                            <a:srgbClr val="2B2B2B"/>
                          </a:solidFill>
                          <a:latin typeface="Calibri" pitchFamily="34" charset="0"/>
                          <a:ea typeface="Calibri" pitchFamily="34" charset="-122"/>
                          <a:cs typeface="Calibri" pitchFamily="34" charset="-120"/>
                        </a:rPr>
                        <a:t>Clinical 72, n=72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CFE9EB"/>
                    </a:solidFill>
                  </a:tcPr>
                </a:tc>
                <a:tc>
                  <a:txBody>
                    <a:bodyPr/>
                    <a:lstStyle/>
                    <a:p>
                      <a:pPr algn="l" indent="0" marL="0">
                        <a:buNone/>
                      </a:pPr>
                      <a:r>
                        <a:rPr lang="en-US" sz="1050" b="1" dirty="0">
                          <a:solidFill>
                            <a:srgbClr val="2B2B2B"/>
                          </a:solidFill>
                          <a:latin typeface="Calibri" pitchFamily="34" charset="0"/>
                          <a:ea typeface="Calibri" pitchFamily="34" charset="-122"/>
                          <a:cs typeface="Calibri" pitchFamily="34" charset="-120"/>
                        </a:rPr>
                        <a:t>Reinhard + CLAHE</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CFE9EB"/>
                    </a:solidFill>
                  </a:tcPr>
                </a:tc>
                <a:tc>
                  <a:txBody>
                    <a:bodyPr/>
                    <a:lstStyle/>
                    <a:p>
                      <a:pPr algn="l" indent="0" marL="0">
                        <a:buNone/>
                      </a:pPr>
                      <a:r>
                        <a:rPr lang="en-US" sz="1050" b="1" dirty="0">
                          <a:solidFill>
                            <a:srgbClr val="2B2B2B"/>
                          </a:solidFill>
                          <a:latin typeface="Calibri" pitchFamily="34" charset="0"/>
                          <a:ea typeface="Calibri" pitchFamily="34" charset="-122"/>
                          <a:cs typeface="Calibri" pitchFamily="34" charset="-120"/>
                        </a:rPr>
                        <a:t>τ(PLT)=0.15</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CFE9EB"/>
                    </a:solidFill>
                  </a:tcPr>
                </a:tc>
                <a:tc>
                  <a:txBody>
                    <a:bodyPr/>
                    <a:lstStyle/>
                    <a:p>
                      <a:pPr algn="ctr" indent="0" marL="0">
                        <a:buNone/>
                      </a:pPr>
                      <a:r>
                        <a:rPr lang="en-US" sz="1050" b="1" dirty="0">
                          <a:solidFill>
                            <a:srgbClr val="2B2B2B"/>
                          </a:solidFill>
                          <a:latin typeface="Calibri" pitchFamily="34" charset="0"/>
                          <a:ea typeface="Calibri" pitchFamily="34" charset="-122"/>
                          <a:cs typeface="Calibri" pitchFamily="34" charset="-120"/>
                        </a:rPr>
                        <a:t>0.414</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CFE9EB"/>
                    </a:solidFill>
                  </a:tcPr>
                </a:tc>
                <a:tc>
                  <a:txBody>
                    <a:bodyPr/>
                    <a:lstStyle/>
                    <a:p>
                      <a:pPr algn="ctr" indent="0" marL="0">
                        <a:buNone/>
                      </a:pPr>
                      <a:r>
                        <a:rPr lang="en-US" sz="1050" b="1" dirty="0">
                          <a:solidFill>
                            <a:srgbClr val="2B2B2B"/>
                          </a:solidFill>
                          <a:latin typeface="Calibri" pitchFamily="34" charset="0"/>
                          <a:ea typeface="Calibri" pitchFamily="34" charset="-122"/>
                          <a:cs typeface="Calibri" pitchFamily="34" charset="-120"/>
                        </a:rPr>
                        <a:t>0.66</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CFE9EB"/>
                    </a:solidFill>
                  </a:tcPr>
                </a:tc>
                <a:tc>
                  <a:txBody>
                    <a:bodyPr/>
                    <a:lstStyle/>
                    <a:p>
                      <a:pPr algn="ctr" indent="0" marL="0">
                        <a:buNone/>
                      </a:pPr>
                      <a:r>
                        <a:rPr lang="en-US" sz="1050" b="1" dirty="0">
                          <a:solidFill>
                            <a:srgbClr val="2B2B2B"/>
                          </a:solidFill>
                          <a:latin typeface="Calibri" pitchFamily="34" charset="0"/>
                          <a:ea typeface="Calibri" pitchFamily="34" charset="-122"/>
                          <a:cs typeface="Calibri" pitchFamily="34" charset="-120"/>
                        </a:rPr>
                        <a:t>0.82</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CFE9EB"/>
                    </a:solidFill>
                  </a:tcPr>
                </a:tc>
                <a:tc>
                  <a:txBody>
                    <a:bodyPr/>
                    <a:lstStyle/>
                    <a:p>
                      <a:pPr algn="ctr" indent="0" marL="0">
                        <a:buNone/>
                      </a:pPr>
                      <a:r>
                        <a:rPr lang="en-US" sz="1050" b="1" dirty="0">
                          <a:solidFill>
                            <a:srgbClr val="2B2B2B"/>
                          </a:solidFill>
                          <a:latin typeface="Calibri" pitchFamily="34" charset="0"/>
                          <a:ea typeface="Calibri" pitchFamily="34" charset="-122"/>
                          <a:cs typeface="Calibri" pitchFamily="34" charset="-120"/>
                        </a:rPr>
                        <a:t>0.21</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CFE9EB"/>
                    </a:solidFill>
                  </a:tcPr>
                </a:tc>
              </a:tr>
              <a:tr h="384048">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(f) Retrained in-domain</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BCCD test, n=364</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Default τ=0.25</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0.829</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0.64</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0.98</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0.84</a:t>
                      </a:r>
                      <a:endParaRPr lang="en-US" sz="1050" dirty="0">
                        <a:latin typeface="Calibri" charset="0"/>
                        <a:ea typeface="Calibri" charset="0"/>
                        <a:cs typeface="Calibri" charset="0"/>
                      </a:endParaRPr>
                    </a:p>
                  </a:txBody>
                  <a:tcPr marL="91440" marR="91440" marT="45720" marB="45720" anchor="ctr">
                    <a:lnL w="6350" cap="flat" cmpd="sng" algn="ctr">
                      <a:solidFill>
                        <a:srgbClr val="E2D3D7"/>
                      </a:solidFill>
                      <a:prstDash val="solid"/>
                      <a:round/>
                      <a:headEnd type="none" w="med" len="med"/>
                      <a:tailEnd type="none" w="med" len="med"/>
                    </a:lnL>
                    <a:lnR w="6350" cap="flat" cmpd="sng" algn="ctr">
                      <a:solidFill>
                        <a:srgbClr val="E2D3D7"/>
                      </a:solidFill>
                      <a:prstDash val="solid"/>
                      <a:round/>
                      <a:headEnd type="none" w="med" len="med"/>
                      <a:tailEnd type="none" w="med" len="med"/>
                    </a:lnR>
                    <a:lnT w="6350" cap="flat" cmpd="sng" algn="ctr">
                      <a:solidFill>
                        <a:srgbClr val="E2D3D7"/>
                      </a:solidFill>
                      <a:prstDash val="solid"/>
                      <a:round/>
                      <a:headEnd type="none" w="med" len="med"/>
                      <a:tailEnd type="none" w="med" len="med"/>
                    </a:lnT>
                    <a:lnB w="6350" cap="flat" cmpd="sng" algn="ctr">
                      <a:solidFill>
                        <a:srgbClr val="E2D3D7"/>
                      </a:solidFill>
                      <a:prstDash val="solid"/>
                      <a:round/>
                      <a:headEnd type="none" w="med" len="med"/>
                      <a:tailEnd type="none" w="med" len="med"/>
                    </a:lnB>
                    <a:solidFill>
                      <a:srgbClr val="FBF6F7"/>
                    </a:solidFill>
                  </a:tcPr>
                </a:tc>
              </a:tr>
            </a:tbl>
          </a:graphicData>
        </a:graphic>
      </p:graphicFrame>
      <p:sp>
        <p:nvSpPr>
          <p:cNvPr id="7" name="Text 3"/>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Highlighted row (e): the only configuration that recovers platelets under stain normalization.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The Platelet Thresholding Rescue</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
        <p:nvSpPr>
          <p:cNvPr id="6" name="Shape 3"/>
          <p:cNvSpPr/>
          <p:nvPr/>
        </p:nvSpPr>
        <p:spPr>
          <a:xfrm>
            <a:off x="457200" y="1143000"/>
            <a:ext cx="4023360" cy="1645920"/>
          </a:xfrm>
          <a:prstGeom prst="roundRect">
            <a:avLst>
              <a:gd name="adj" fmla="val 5556"/>
            </a:avLst>
          </a:prstGeom>
          <a:solidFill>
            <a:srgbClr val="F8EFF1"/>
          </a:solidFill>
          <a:ln w="12700">
            <a:solidFill>
              <a:srgbClr val="F8EFF1"/>
            </a:solidFill>
            <a:prstDash val="solid"/>
          </a:ln>
        </p:spPr>
      </p:sp>
      <p:sp>
        <p:nvSpPr>
          <p:cNvPr id="7" name="Text 4"/>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500" b="1" dirty="0">
                <a:solidFill>
                  <a:srgbClr val="B3243B"/>
                </a:solidFill>
                <a:latin typeface="Calibri" pitchFamily="34" charset="0"/>
                <a:ea typeface="Calibri" pitchFamily="34" charset="-122"/>
                <a:cs typeface="Calibri" pitchFamily="34" charset="-120"/>
              </a:rPr>
              <a:t>The paradox</a:t>
            </a:r>
            <a:endParaRPr lang="en-US" sz="1500" dirty="0"/>
          </a:p>
        </p:txBody>
      </p:sp>
      <p:sp>
        <p:nvSpPr>
          <p:cNvPr id="8" name="Text 5"/>
          <p:cNvSpPr txBox="1"/>
          <p:nvPr/>
        </p:nvSpPr>
        <p:spPr>
          <a:xfrm>
            <a:off x="640080" y="1600200"/>
            <a:ext cx="3657600" cy="11430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Reinhard normalization alone dropped platelet F1 to 0.03. It weakened the faint pale-purple hue of thrombocytes, pushing detector confidence just below the default 0.25 threshold.</a:t>
            </a:r>
            <a:endParaRPr lang="en-US" sz="1250" dirty="0"/>
          </a:p>
        </p:txBody>
      </p:sp>
      <p:sp>
        <p:nvSpPr>
          <p:cNvPr id="9" name="Shape 6"/>
          <p:cNvSpPr/>
          <p:nvPr/>
        </p:nvSpPr>
        <p:spPr>
          <a:xfrm>
            <a:off x="4663440" y="1143000"/>
            <a:ext cx="4023360" cy="1645920"/>
          </a:xfrm>
          <a:prstGeom prst="roundRect">
            <a:avLst>
              <a:gd name="adj" fmla="val 5556"/>
            </a:avLst>
          </a:prstGeom>
          <a:solidFill>
            <a:srgbClr val="E6F3F4"/>
          </a:solidFill>
          <a:ln w="12700">
            <a:solidFill>
              <a:srgbClr val="E6F3F4"/>
            </a:solidFill>
            <a:prstDash val="solid"/>
          </a:ln>
        </p:spPr>
      </p:sp>
      <p:sp>
        <p:nvSpPr>
          <p:cNvPr id="10" name="Text 7"/>
          <p:cNvSpPr txBox="1"/>
          <p:nvPr/>
        </p:nvSpPr>
        <p:spPr>
          <a:xfrm>
            <a:off x="4846320" y="1234440"/>
            <a:ext cx="3657600" cy="32004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The fix</a:t>
            </a:r>
            <a:endParaRPr lang="en-US" sz="1500" dirty="0"/>
          </a:p>
        </p:txBody>
      </p:sp>
      <p:sp>
        <p:nvSpPr>
          <p:cNvPr id="11" name="Text 8"/>
          <p:cNvSpPr txBox="1"/>
          <p:nvPr/>
        </p:nvSpPr>
        <p:spPr>
          <a:xfrm>
            <a:off x="4846320" y="1600200"/>
            <a:ext cx="3657600" cy="11430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Calibrating the platelet decision boundary to τ(PLT) = 0.15 (row e) rescued recall and lifted F1 back up, a 6.4× recovery.</a:t>
            </a:r>
            <a:endParaRPr lang="en-US" sz="1250" dirty="0"/>
          </a:p>
        </p:txBody>
      </p:sp>
      <p:sp>
        <p:nvSpPr>
          <p:cNvPr id="12" name="Text 9"/>
          <p:cNvSpPr txBox="1"/>
          <p:nvPr/>
        </p:nvSpPr>
        <p:spPr>
          <a:xfrm>
            <a:off x="457200" y="2926080"/>
            <a:ext cx="2560320" cy="594360"/>
          </a:xfrm>
          <a:prstGeom prst="rect">
            <a:avLst/>
          </a:prstGeom>
          <a:noFill/>
          <a:ln/>
        </p:spPr>
        <p:txBody>
          <a:bodyPr wrap="square" lIns="0" tIns="0" rIns="0" bIns="0" rtlCol="0" anchor="ctr"/>
          <a:lstStyle/>
          <a:p>
            <a:pPr algn="ctr" indent="0" marL="0">
              <a:buNone/>
            </a:pPr>
            <a:r>
              <a:rPr lang="en-US" sz="2800" b="1" dirty="0">
                <a:solidFill>
                  <a:srgbClr val="5E1A2E"/>
                </a:solidFill>
                <a:latin typeface="Cambria" pitchFamily="34" charset="0"/>
                <a:ea typeface="Cambria" pitchFamily="34" charset="-122"/>
                <a:cs typeface="Cambria" pitchFamily="34" charset="-120"/>
              </a:rPr>
              <a:t>0.018 → 0.175</a:t>
            </a:r>
            <a:endParaRPr lang="en-US" sz="2800" dirty="0"/>
          </a:p>
        </p:txBody>
      </p:sp>
      <p:sp>
        <p:nvSpPr>
          <p:cNvPr id="13" name="Text 10"/>
          <p:cNvSpPr txBox="1"/>
          <p:nvPr/>
        </p:nvSpPr>
        <p:spPr>
          <a:xfrm>
            <a:off x="457200" y="3520440"/>
            <a:ext cx="2560320" cy="274320"/>
          </a:xfrm>
          <a:prstGeom prst="rect">
            <a:avLst/>
          </a:prstGeom>
          <a:noFill/>
          <a:ln/>
        </p:spPr>
        <p:txBody>
          <a:bodyPr wrap="square" lIns="0" tIns="0" rIns="0" bIns="0" rtlCol="0" anchor="t"/>
          <a:lstStyle/>
          <a:p>
            <a:pPr algn="ctr" indent="0" marL="0">
              <a:buNone/>
            </a:pPr>
            <a:r>
              <a:rPr lang="en-US" sz="1200" dirty="0">
                <a:solidFill>
                  <a:srgbClr val="6B6B6B"/>
                </a:solidFill>
                <a:latin typeface="Calibri" pitchFamily="34" charset="0"/>
                <a:ea typeface="Calibri" pitchFamily="34" charset="-122"/>
                <a:cs typeface="Calibri" pitchFamily="34" charset="-120"/>
              </a:rPr>
              <a:t>platelet recall</a:t>
            </a:r>
            <a:endParaRPr lang="en-US" sz="1200" dirty="0"/>
          </a:p>
        </p:txBody>
      </p:sp>
      <p:sp>
        <p:nvSpPr>
          <p:cNvPr id="14" name="Text 11"/>
          <p:cNvSpPr txBox="1"/>
          <p:nvPr/>
        </p:nvSpPr>
        <p:spPr>
          <a:xfrm>
            <a:off x="3291840" y="2926080"/>
            <a:ext cx="2560320" cy="594360"/>
          </a:xfrm>
          <a:prstGeom prst="rect">
            <a:avLst/>
          </a:prstGeom>
          <a:noFill/>
          <a:ln/>
        </p:spPr>
        <p:txBody>
          <a:bodyPr wrap="square" lIns="0" tIns="0" rIns="0" bIns="0" rtlCol="0" anchor="ctr"/>
          <a:lstStyle/>
          <a:p>
            <a:pPr algn="ctr" indent="0" marL="0">
              <a:buNone/>
            </a:pPr>
            <a:r>
              <a:rPr lang="en-US" sz="2800" b="1" dirty="0">
                <a:solidFill>
                  <a:srgbClr val="5E1A2E"/>
                </a:solidFill>
                <a:latin typeface="Cambria" pitchFamily="34" charset="0"/>
                <a:ea typeface="Cambria" pitchFamily="34" charset="-122"/>
                <a:cs typeface="Cambria" pitchFamily="34" charset="-120"/>
              </a:rPr>
              <a:t>0.03 → 0.21</a:t>
            </a:r>
            <a:endParaRPr lang="en-US" sz="2800" dirty="0"/>
          </a:p>
        </p:txBody>
      </p:sp>
      <p:sp>
        <p:nvSpPr>
          <p:cNvPr id="15" name="Text 12"/>
          <p:cNvSpPr txBox="1"/>
          <p:nvPr/>
        </p:nvSpPr>
        <p:spPr>
          <a:xfrm>
            <a:off x="3291840" y="3520440"/>
            <a:ext cx="2560320" cy="274320"/>
          </a:xfrm>
          <a:prstGeom prst="rect">
            <a:avLst/>
          </a:prstGeom>
          <a:noFill/>
          <a:ln/>
        </p:spPr>
        <p:txBody>
          <a:bodyPr wrap="square" lIns="0" tIns="0" rIns="0" bIns="0" rtlCol="0" anchor="t"/>
          <a:lstStyle/>
          <a:p>
            <a:pPr algn="ctr" indent="0" marL="0">
              <a:buNone/>
            </a:pPr>
            <a:r>
              <a:rPr lang="en-US" sz="1200" dirty="0">
                <a:solidFill>
                  <a:srgbClr val="6B6B6B"/>
                </a:solidFill>
                <a:latin typeface="Calibri" pitchFamily="34" charset="0"/>
                <a:ea typeface="Calibri" pitchFamily="34" charset="-122"/>
                <a:cs typeface="Calibri" pitchFamily="34" charset="-120"/>
              </a:rPr>
              <a:t>platelet F1</a:t>
            </a:r>
            <a:endParaRPr lang="en-US" sz="1200" dirty="0"/>
          </a:p>
        </p:txBody>
      </p:sp>
      <p:sp>
        <p:nvSpPr>
          <p:cNvPr id="16" name="Text 13"/>
          <p:cNvSpPr txBox="1"/>
          <p:nvPr/>
        </p:nvSpPr>
        <p:spPr>
          <a:xfrm>
            <a:off x="6126480" y="2926080"/>
            <a:ext cx="2560320" cy="594360"/>
          </a:xfrm>
          <a:prstGeom prst="rect">
            <a:avLst/>
          </a:prstGeom>
          <a:noFill/>
          <a:ln/>
        </p:spPr>
        <p:txBody>
          <a:bodyPr wrap="square" lIns="0" tIns="0" rIns="0" bIns="0" rtlCol="0" anchor="ctr"/>
          <a:lstStyle/>
          <a:p>
            <a:pPr algn="ctr" indent="0" marL="0">
              <a:buNone/>
            </a:pPr>
            <a:r>
              <a:rPr lang="en-US" sz="2800" b="1" dirty="0">
                <a:solidFill>
                  <a:srgbClr val="5E1A2E"/>
                </a:solidFill>
                <a:latin typeface="Cambria" pitchFamily="34" charset="0"/>
                <a:ea typeface="Cambria" pitchFamily="34" charset="-122"/>
                <a:cs typeface="Cambria" pitchFamily="34" charset="-120"/>
              </a:rPr>
              <a:t>6.4×</a:t>
            </a:r>
            <a:endParaRPr lang="en-US" sz="2800" dirty="0"/>
          </a:p>
        </p:txBody>
      </p:sp>
      <p:sp>
        <p:nvSpPr>
          <p:cNvPr id="17" name="Text 14"/>
          <p:cNvSpPr txBox="1"/>
          <p:nvPr/>
        </p:nvSpPr>
        <p:spPr>
          <a:xfrm>
            <a:off x="6126480" y="3520440"/>
            <a:ext cx="2560320" cy="274320"/>
          </a:xfrm>
          <a:prstGeom prst="rect">
            <a:avLst/>
          </a:prstGeom>
          <a:noFill/>
          <a:ln/>
        </p:spPr>
        <p:txBody>
          <a:bodyPr wrap="square" lIns="0" tIns="0" rIns="0" bIns="0" rtlCol="0" anchor="t"/>
          <a:lstStyle/>
          <a:p>
            <a:pPr algn="ctr" indent="0" marL="0">
              <a:buNone/>
            </a:pPr>
            <a:r>
              <a:rPr lang="en-US" sz="1200" dirty="0">
                <a:solidFill>
                  <a:srgbClr val="6B6B6B"/>
                </a:solidFill>
                <a:latin typeface="Calibri" pitchFamily="34" charset="0"/>
                <a:ea typeface="Calibri" pitchFamily="34" charset="-122"/>
                <a:cs typeface="Calibri" pitchFamily="34" charset="-120"/>
              </a:rPr>
              <a:t>recovery</a:t>
            </a:r>
            <a:endParaRPr lang="en-US" sz="1200" dirty="0"/>
          </a:p>
        </p:txBody>
      </p:sp>
      <p:sp>
        <p:nvSpPr>
          <p:cNvPr id="18" name="Shape 15"/>
          <p:cNvSpPr/>
          <p:nvPr/>
        </p:nvSpPr>
        <p:spPr>
          <a:xfrm>
            <a:off x="457200" y="3931920"/>
            <a:ext cx="8229600" cy="685800"/>
          </a:xfrm>
          <a:prstGeom prst="roundRect">
            <a:avLst>
              <a:gd name="adj" fmla="val 13333"/>
            </a:avLst>
          </a:prstGeom>
          <a:solidFill>
            <a:srgbClr val="5E1A2E"/>
          </a:solidFill>
          <a:ln w="12700">
            <a:solidFill>
              <a:srgbClr val="5E1A2E"/>
            </a:solidFill>
            <a:prstDash val="solid"/>
          </a:ln>
        </p:spPr>
      </p:sp>
      <p:sp>
        <p:nvSpPr>
          <p:cNvPr id="19" name="Text 16"/>
          <p:cNvSpPr txBox="1"/>
          <p:nvPr/>
        </p:nvSpPr>
        <p:spPr>
          <a:xfrm>
            <a:off x="685800" y="3950208"/>
            <a:ext cx="777240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Core rule: color normalization shifts head activations, so couple every preprocessing transform with threshold recalibration.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Edge Systems, Power and Economics</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457200" y="1188720"/>
            <a:ext cx="4023360" cy="1371600"/>
          </a:xfrm>
          <a:prstGeom prst="roundRect">
            <a:avLst>
              <a:gd name="adj" fmla="val 6667"/>
            </a:avLst>
          </a:prstGeom>
          <a:solidFill>
            <a:srgbClr val="EDEDED"/>
          </a:solidFill>
          <a:ln w="12700">
            <a:solidFill>
              <a:srgbClr val="EDEDED"/>
            </a:solidFill>
            <a:prstDash val="solid"/>
          </a:ln>
        </p:spPr>
      </p:sp>
      <p:sp>
        <p:nvSpPr>
          <p:cNvPr id="6" name="Text 4"/>
          <p:cNvSpPr txBox="1"/>
          <p:nvPr/>
        </p:nvSpPr>
        <p:spPr>
          <a:xfrm>
            <a:off x="640080" y="1280160"/>
            <a:ext cx="3657600" cy="274320"/>
          </a:xfrm>
          <a:prstGeom prst="rect">
            <a:avLst/>
          </a:prstGeom>
          <a:noFill/>
          <a:ln/>
        </p:spPr>
        <p:txBody>
          <a:bodyPr wrap="square" lIns="0" tIns="0" rIns="0" bIns="0" rtlCol="0" anchor="t"/>
          <a:lstStyle/>
          <a:p>
            <a:pPr indent="0" marL="0">
              <a:buNone/>
            </a:pPr>
            <a:r>
              <a:rPr lang="en-US" sz="1300" b="1" dirty="0">
                <a:solidFill>
                  <a:srgbClr val="6B6B6B"/>
                </a:solidFill>
                <a:latin typeface="Calibri" pitchFamily="34" charset="0"/>
                <a:ea typeface="Calibri" pitchFamily="34" charset="-122"/>
                <a:cs typeface="Calibri" pitchFamily="34" charset="-120"/>
              </a:rPr>
              <a:t>Commercial 3-part analyzer</a:t>
            </a:r>
            <a:endParaRPr lang="en-US" sz="1300" dirty="0"/>
          </a:p>
        </p:txBody>
      </p:sp>
      <p:sp>
        <p:nvSpPr>
          <p:cNvPr id="7" name="Text 5"/>
          <p:cNvSpPr txBox="1"/>
          <p:nvPr/>
        </p:nvSpPr>
        <p:spPr>
          <a:xfrm>
            <a:off x="640080" y="1572768"/>
            <a:ext cx="3657600" cy="548640"/>
          </a:xfrm>
          <a:prstGeom prst="rect">
            <a:avLst/>
          </a:prstGeom>
          <a:noFill/>
          <a:ln/>
        </p:spPr>
        <p:txBody>
          <a:bodyPr wrap="square" lIns="0" tIns="0" rIns="0" bIns="0" rtlCol="0" anchor="t"/>
          <a:lstStyle/>
          <a:p>
            <a:pPr indent="0" marL="0">
              <a:buNone/>
            </a:pPr>
            <a:r>
              <a:rPr lang="en-US" sz="3200" b="1" dirty="0">
                <a:solidFill>
                  <a:srgbClr val="555555"/>
                </a:solidFill>
                <a:latin typeface="Cambria" pitchFamily="34" charset="0"/>
                <a:ea typeface="Cambria" pitchFamily="34" charset="-122"/>
                <a:cs typeface="Cambria" pitchFamily="34" charset="-120"/>
              </a:rPr>
              <a:t>$30,000</a:t>
            </a:r>
            <a:endParaRPr lang="en-US" sz="3200" dirty="0"/>
          </a:p>
        </p:txBody>
      </p:sp>
      <p:sp>
        <p:nvSpPr>
          <p:cNvPr id="8" name="Text 6"/>
          <p:cNvSpPr txBox="1"/>
          <p:nvPr/>
        </p:nvSpPr>
        <p:spPr>
          <a:xfrm>
            <a:off x="640080" y="2148840"/>
            <a:ext cx="3657600" cy="27432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plus $2,500 per year in reagents</a:t>
            </a:r>
            <a:endParaRPr lang="en-US" sz="1200" dirty="0"/>
          </a:p>
        </p:txBody>
      </p:sp>
      <p:sp>
        <p:nvSpPr>
          <p:cNvPr id="9" name="Shape 7"/>
          <p:cNvSpPr/>
          <p:nvPr/>
        </p:nvSpPr>
        <p:spPr>
          <a:xfrm>
            <a:off x="4663440" y="1188720"/>
            <a:ext cx="4023360" cy="1371600"/>
          </a:xfrm>
          <a:prstGeom prst="roundRect">
            <a:avLst>
              <a:gd name="adj" fmla="val 6667"/>
            </a:avLst>
          </a:prstGeom>
          <a:solidFill>
            <a:srgbClr val="5E1A2E"/>
          </a:solidFill>
          <a:ln w="12700">
            <a:solidFill>
              <a:srgbClr val="5E1A2E"/>
            </a:solidFill>
            <a:prstDash val="solid"/>
          </a:ln>
        </p:spPr>
      </p:sp>
      <p:sp>
        <p:nvSpPr>
          <p:cNvPr id="10" name="Text 8"/>
          <p:cNvSpPr txBox="1"/>
          <p:nvPr/>
        </p:nvSpPr>
        <p:spPr>
          <a:xfrm>
            <a:off x="4846320" y="1280160"/>
            <a:ext cx="3657600" cy="274320"/>
          </a:xfrm>
          <a:prstGeom prst="rect">
            <a:avLst/>
          </a:prstGeom>
          <a:noFill/>
          <a:ln/>
        </p:spPr>
        <p:txBody>
          <a:bodyPr wrap="square" lIns="0" tIns="0" rIns="0" bIns="0" rtlCol="0" anchor="t"/>
          <a:lstStyle/>
          <a:p>
            <a:pPr indent="0" marL="0">
              <a:buNone/>
            </a:pPr>
            <a:r>
              <a:rPr lang="en-US" sz="1300" b="1" dirty="0">
                <a:solidFill>
                  <a:srgbClr val="F2B8C4"/>
                </a:solidFill>
                <a:latin typeface="Calibri" pitchFamily="34" charset="0"/>
                <a:ea typeface="Calibri" pitchFamily="34" charset="-122"/>
                <a:cs typeface="Calibri" pitchFamily="34" charset="-120"/>
              </a:rPr>
              <a:t>Our Edge-AI microscope station</a:t>
            </a:r>
            <a:endParaRPr lang="en-US" sz="1300" dirty="0"/>
          </a:p>
        </p:txBody>
      </p:sp>
      <p:sp>
        <p:nvSpPr>
          <p:cNvPr id="11" name="Text 9"/>
          <p:cNvSpPr txBox="1"/>
          <p:nvPr/>
        </p:nvSpPr>
        <p:spPr>
          <a:xfrm>
            <a:off x="4846320" y="1572768"/>
            <a:ext cx="365760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$275</a:t>
            </a:r>
            <a:endParaRPr lang="en-US" sz="3200" dirty="0"/>
          </a:p>
        </p:txBody>
      </p:sp>
      <p:sp>
        <p:nvSpPr>
          <p:cNvPr id="12" name="Text 10"/>
          <p:cNvSpPr txBox="1"/>
          <p:nvPr/>
        </p:nvSpPr>
        <p:spPr>
          <a:xfrm>
            <a:off x="4846320" y="2148840"/>
            <a:ext cx="3657600" cy="274320"/>
          </a:xfrm>
          <a:prstGeom prst="rect">
            <a:avLst/>
          </a:prstGeom>
          <a:noFill/>
          <a:ln/>
        </p:spPr>
        <p:txBody>
          <a:bodyPr wrap="square" lIns="0" tIns="0" rIns="0" bIns="0" rtlCol="0" anchor="t"/>
          <a:lstStyle/>
          <a:p>
            <a:pPr indent="0" marL="0">
              <a:buNone/>
            </a:pPr>
            <a:r>
              <a:rPr lang="en-US" sz="1200" dirty="0">
                <a:solidFill>
                  <a:srgbClr val="F2D7DD"/>
                </a:solidFill>
                <a:latin typeface="Calibri" pitchFamily="34" charset="0"/>
                <a:ea typeface="Calibri" pitchFamily="34" charset="-122"/>
                <a:cs typeface="Calibri" pitchFamily="34" charset="-120"/>
              </a:rPr>
              <a:t>one-time cost, zero proprietary reagents</a:t>
            </a:r>
            <a:endParaRPr lang="en-US" sz="1200" dirty="0"/>
          </a:p>
        </p:txBody>
      </p:sp>
      <p:sp>
        <p:nvSpPr>
          <p:cNvPr id="13" name="Shape 11"/>
          <p:cNvSpPr/>
          <p:nvPr/>
        </p:nvSpPr>
        <p:spPr>
          <a:xfrm>
            <a:off x="457200" y="2743200"/>
            <a:ext cx="1920240" cy="1371600"/>
          </a:xfrm>
          <a:prstGeom prst="roundRect">
            <a:avLst>
              <a:gd name="adj" fmla="val 6667"/>
            </a:avLst>
          </a:prstGeom>
          <a:solidFill>
            <a:srgbClr val="E6F3F4"/>
          </a:solidFill>
          <a:ln w="12700">
            <a:solidFill>
              <a:srgbClr val="E6F3F4"/>
            </a:solidFill>
            <a:prstDash val="solid"/>
          </a:ln>
        </p:spPr>
      </p:sp>
      <p:sp>
        <p:nvSpPr>
          <p:cNvPr id="14" name="Text 12"/>
          <p:cNvSpPr txBox="1"/>
          <p:nvPr/>
        </p:nvSpPr>
        <p:spPr>
          <a:xfrm>
            <a:off x="594360" y="2816352"/>
            <a:ext cx="1645920" cy="502920"/>
          </a:xfrm>
          <a:prstGeom prst="rect">
            <a:avLst/>
          </a:prstGeom>
          <a:noFill/>
          <a:ln/>
        </p:spPr>
        <p:txBody>
          <a:bodyPr wrap="square" lIns="0" tIns="0" rIns="0" bIns="0" rtlCol="0" anchor="t"/>
          <a:lstStyle/>
          <a:p>
            <a:pPr indent="0" marL="0">
              <a:buNone/>
            </a:pPr>
            <a:r>
              <a:rPr lang="en-US" sz="2400" b="1" dirty="0">
                <a:solidFill>
                  <a:srgbClr val="0E7C86"/>
                </a:solidFill>
                <a:latin typeface="Cambria" pitchFamily="34" charset="0"/>
                <a:ea typeface="Cambria" pitchFamily="34" charset="-122"/>
                <a:cs typeface="Cambria" pitchFamily="34" charset="-120"/>
              </a:rPr>
              <a:t>3.67×</a:t>
            </a:r>
            <a:endParaRPr lang="en-US" sz="2400" dirty="0"/>
          </a:p>
        </p:txBody>
      </p:sp>
      <p:sp>
        <p:nvSpPr>
          <p:cNvPr id="15" name="Text 13"/>
          <p:cNvSpPr txBox="1"/>
          <p:nvPr/>
        </p:nvSpPr>
        <p:spPr>
          <a:xfrm>
            <a:off x="594360" y="3337560"/>
            <a:ext cx="1645920" cy="256032"/>
          </a:xfrm>
          <a:prstGeom prst="rect">
            <a:avLst/>
          </a:prstGeom>
          <a:noFill/>
          <a:ln/>
        </p:spPr>
        <p:txBody>
          <a:bodyPr wrap="square" lIns="0" tIns="0" rIns="0" bIns="0" rtlCol="0" anchor="t"/>
          <a:lstStyle/>
          <a:p>
            <a:pPr indent="0" marL="0">
              <a:buNone/>
            </a:pPr>
            <a:r>
              <a:rPr lang="en-US" sz="1200" b="1" dirty="0">
                <a:solidFill>
                  <a:srgbClr val="2B2B2B"/>
                </a:solidFill>
                <a:latin typeface="Calibri" pitchFamily="34" charset="0"/>
                <a:ea typeface="Calibri" pitchFamily="34" charset="-122"/>
                <a:cs typeface="Calibri" pitchFamily="34" charset="-120"/>
              </a:rPr>
              <a:t>model compression</a:t>
            </a:r>
            <a:endParaRPr lang="en-US" sz="1200" dirty="0"/>
          </a:p>
        </p:txBody>
      </p:sp>
      <p:sp>
        <p:nvSpPr>
          <p:cNvPr id="16" name="Text 14"/>
          <p:cNvSpPr txBox="1"/>
          <p:nvPr/>
        </p:nvSpPr>
        <p:spPr>
          <a:xfrm>
            <a:off x="594360" y="3611880"/>
            <a:ext cx="1645920" cy="45720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11.7 MB → 3.2 MB</a:t>
            </a:r>
            <a:endParaRPr lang="en-US" sz="1100" dirty="0"/>
          </a:p>
        </p:txBody>
      </p:sp>
      <p:sp>
        <p:nvSpPr>
          <p:cNvPr id="17" name="Shape 15"/>
          <p:cNvSpPr/>
          <p:nvPr/>
        </p:nvSpPr>
        <p:spPr>
          <a:xfrm>
            <a:off x="2560320" y="2743200"/>
            <a:ext cx="1920240" cy="1371600"/>
          </a:xfrm>
          <a:prstGeom prst="roundRect">
            <a:avLst>
              <a:gd name="adj" fmla="val 6667"/>
            </a:avLst>
          </a:prstGeom>
          <a:solidFill>
            <a:srgbClr val="E6F3F4"/>
          </a:solidFill>
          <a:ln w="12700">
            <a:solidFill>
              <a:srgbClr val="E6F3F4"/>
            </a:solidFill>
            <a:prstDash val="solid"/>
          </a:ln>
        </p:spPr>
      </p:sp>
      <p:sp>
        <p:nvSpPr>
          <p:cNvPr id="18" name="Text 16"/>
          <p:cNvSpPr txBox="1"/>
          <p:nvPr/>
        </p:nvSpPr>
        <p:spPr>
          <a:xfrm>
            <a:off x="2697480" y="2816352"/>
            <a:ext cx="1645920" cy="502920"/>
          </a:xfrm>
          <a:prstGeom prst="rect">
            <a:avLst/>
          </a:prstGeom>
          <a:noFill/>
          <a:ln/>
        </p:spPr>
        <p:txBody>
          <a:bodyPr wrap="square" lIns="0" tIns="0" rIns="0" bIns="0" rtlCol="0" anchor="t"/>
          <a:lstStyle/>
          <a:p>
            <a:pPr indent="0" marL="0">
              <a:buNone/>
            </a:pPr>
            <a:r>
              <a:rPr lang="en-US" sz="2400" b="1" dirty="0">
                <a:solidFill>
                  <a:srgbClr val="0E7C86"/>
                </a:solidFill>
                <a:latin typeface="Cambria" pitchFamily="34" charset="0"/>
                <a:ea typeface="Cambria" pitchFamily="34" charset="-122"/>
                <a:cs typeface="Cambria" pitchFamily="34" charset="-120"/>
              </a:rPr>
              <a:t>4.1 FPS</a:t>
            </a:r>
            <a:endParaRPr lang="en-US" sz="2400" dirty="0"/>
          </a:p>
        </p:txBody>
      </p:sp>
      <p:sp>
        <p:nvSpPr>
          <p:cNvPr id="19" name="Text 17"/>
          <p:cNvSpPr txBox="1"/>
          <p:nvPr/>
        </p:nvSpPr>
        <p:spPr>
          <a:xfrm>
            <a:off x="2697480" y="3337560"/>
            <a:ext cx="1645920" cy="256032"/>
          </a:xfrm>
          <a:prstGeom prst="rect">
            <a:avLst/>
          </a:prstGeom>
          <a:noFill/>
          <a:ln/>
        </p:spPr>
        <p:txBody>
          <a:bodyPr wrap="square" lIns="0" tIns="0" rIns="0" bIns="0" rtlCol="0" anchor="t"/>
          <a:lstStyle/>
          <a:p>
            <a:pPr indent="0" marL="0">
              <a:buNone/>
            </a:pPr>
            <a:r>
              <a:rPr lang="en-US" sz="1200" b="1" dirty="0">
                <a:solidFill>
                  <a:srgbClr val="2B2B2B"/>
                </a:solidFill>
                <a:latin typeface="Calibri" pitchFamily="34" charset="0"/>
                <a:ea typeface="Calibri" pitchFamily="34" charset="-122"/>
                <a:cs typeface="Calibri" pitchFamily="34" charset="-120"/>
              </a:rPr>
              <a:t>245 ms per frame</a:t>
            </a:r>
            <a:endParaRPr lang="en-US" sz="1200" dirty="0"/>
          </a:p>
        </p:txBody>
      </p:sp>
      <p:sp>
        <p:nvSpPr>
          <p:cNvPr id="20" name="Text 18"/>
          <p:cNvSpPr txBox="1"/>
          <p:nvPr/>
        </p:nvSpPr>
        <p:spPr>
          <a:xfrm>
            <a:off x="2697480" y="3611880"/>
            <a:ext cx="1645920" cy="45720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within operator scan speed</a:t>
            </a:r>
            <a:endParaRPr lang="en-US" sz="1100" dirty="0"/>
          </a:p>
        </p:txBody>
      </p:sp>
      <p:sp>
        <p:nvSpPr>
          <p:cNvPr id="21" name="Shape 19"/>
          <p:cNvSpPr/>
          <p:nvPr/>
        </p:nvSpPr>
        <p:spPr>
          <a:xfrm>
            <a:off x="4663440" y="2743200"/>
            <a:ext cx="1920240" cy="1371600"/>
          </a:xfrm>
          <a:prstGeom prst="roundRect">
            <a:avLst>
              <a:gd name="adj" fmla="val 6667"/>
            </a:avLst>
          </a:prstGeom>
          <a:solidFill>
            <a:srgbClr val="E6F3F4"/>
          </a:solidFill>
          <a:ln w="12700">
            <a:solidFill>
              <a:srgbClr val="E6F3F4"/>
            </a:solidFill>
            <a:prstDash val="solid"/>
          </a:ln>
        </p:spPr>
      </p:sp>
      <p:sp>
        <p:nvSpPr>
          <p:cNvPr id="22" name="Text 20"/>
          <p:cNvSpPr txBox="1"/>
          <p:nvPr/>
        </p:nvSpPr>
        <p:spPr>
          <a:xfrm>
            <a:off x="4800600" y="2816352"/>
            <a:ext cx="1645920" cy="502920"/>
          </a:xfrm>
          <a:prstGeom prst="rect">
            <a:avLst/>
          </a:prstGeom>
          <a:noFill/>
          <a:ln/>
        </p:spPr>
        <p:txBody>
          <a:bodyPr wrap="square" lIns="0" tIns="0" rIns="0" bIns="0" rtlCol="0" anchor="t"/>
          <a:lstStyle/>
          <a:p>
            <a:pPr indent="0" marL="0">
              <a:buNone/>
            </a:pPr>
            <a:r>
              <a:rPr lang="en-US" sz="2400" b="1" dirty="0">
                <a:solidFill>
                  <a:srgbClr val="0E7C86"/>
                </a:solidFill>
                <a:latin typeface="Cambria" pitchFamily="34" charset="0"/>
                <a:ea typeface="Cambria" pitchFamily="34" charset="-122"/>
                <a:cs typeface="Cambria" pitchFamily="34" charset="-120"/>
              </a:rPr>
              <a:t>3.4 W</a:t>
            </a:r>
            <a:endParaRPr lang="en-US" sz="2400" dirty="0"/>
          </a:p>
        </p:txBody>
      </p:sp>
      <p:sp>
        <p:nvSpPr>
          <p:cNvPr id="23" name="Text 21"/>
          <p:cNvSpPr txBox="1"/>
          <p:nvPr/>
        </p:nvSpPr>
        <p:spPr>
          <a:xfrm>
            <a:off x="4800600" y="3337560"/>
            <a:ext cx="1645920" cy="256032"/>
          </a:xfrm>
          <a:prstGeom prst="rect">
            <a:avLst/>
          </a:prstGeom>
          <a:noFill/>
          <a:ln/>
        </p:spPr>
        <p:txBody>
          <a:bodyPr wrap="square" lIns="0" tIns="0" rIns="0" bIns="0" rtlCol="0" anchor="t"/>
          <a:lstStyle/>
          <a:p>
            <a:pPr indent="0" marL="0">
              <a:buNone/>
            </a:pPr>
            <a:r>
              <a:rPr lang="en-US" sz="1200" b="1" dirty="0">
                <a:solidFill>
                  <a:srgbClr val="2B2B2B"/>
                </a:solidFill>
                <a:latin typeface="Calibri" pitchFamily="34" charset="0"/>
                <a:ea typeface="Calibri" pitchFamily="34" charset="-122"/>
                <a:cs typeface="Calibri" pitchFamily="34" charset="-120"/>
              </a:rPr>
              <a:t>sustained draw</a:t>
            </a:r>
            <a:endParaRPr lang="en-US" sz="1200" dirty="0"/>
          </a:p>
        </p:txBody>
      </p:sp>
      <p:sp>
        <p:nvSpPr>
          <p:cNvPr id="24" name="Text 22"/>
          <p:cNvSpPr txBox="1"/>
          <p:nvPr/>
        </p:nvSpPr>
        <p:spPr>
          <a:xfrm>
            <a:off x="4800600" y="3611880"/>
            <a:ext cx="1645920" cy="45720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&gt;5 h on a 20 Wh power bank</a:t>
            </a:r>
            <a:endParaRPr lang="en-US" sz="1100" dirty="0"/>
          </a:p>
        </p:txBody>
      </p:sp>
      <p:sp>
        <p:nvSpPr>
          <p:cNvPr id="25" name="Shape 23"/>
          <p:cNvSpPr/>
          <p:nvPr/>
        </p:nvSpPr>
        <p:spPr>
          <a:xfrm>
            <a:off x="6766560" y="2743200"/>
            <a:ext cx="1920240" cy="1371600"/>
          </a:xfrm>
          <a:prstGeom prst="roundRect">
            <a:avLst>
              <a:gd name="adj" fmla="val 6667"/>
            </a:avLst>
          </a:prstGeom>
          <a:solidFill>
            <a:srgbClr val="E6F3F4"/>
          </a:solidFill>
          <a:ln w="12700">
            <a:solidFill>
              <a:srgbClr val="E6F3F4"/>
            </a:solidFill>
            <a:prstDash val="solid"/>
          </a:ln>
        </p:spPr>
      </p:sp>
      <p:sp>
        <p:nvSpPr>
          <p:cNvPr id="26" name="Text 24"/>
          <p:cNvSpPr txBox="1"/>
          <p:nvPr/>
        </p:nvSpPr>
        <p:spPr>
          <a:xfrm>
            <a:off x="6903720" y="2816352"/>
            <a:ext cx="1645920" cy="502920"/>
          </a:xfrm>
          <a:prstGeom prst="rect">
            <a:avLst/>
          </a:prstGeom>
          <a:noFill/>
          <a:ln/>
        </p:spPr>
        <p:txBody>
          <a:bodyPr wrap="square" lIns="0" tIns="0" rIns="0" bIns="0" rtlCol="0" anchor="t"/>
          <a:lstStyle/>
          <a:p>
            <a:pPr indent="0" marL="0">
              <a:buNone/>
            </a:pPr>
            <a:r>
              <a:rPr lang="en-US" sz="2400" b="1" dirty="0">
                <a:solidFill>
                  <a:srgbClr val="0E7C86"/>
                </a:solidFill>
                <a:latin typeface="Cambria" pitchFamily="34" charset="0"/>
                <a:ea typeface="Cambria" pitchFamily="34" charset="-122"/>
                <a:cs typeface="Cambria" pitchFamily="34" charset="-120"/>
              </a:rPr>
              <a:t>&lt; 58 °C</a:t>
            </a:r>
            <a:endParaRPr lang="en-US" sz="2400" dirty="0"/>
          </a:p>
        </p:txBody>
      </p:sp>
      <p:sp>
        <p:nvSpPr>
          <p:cNvPr id="27" name="Text 25"/>
          <p:cNvSpPr txBox="1"/>
          <p:nvPr/>
        </p:nvSpPr>
        <p:spPr>
          <a:xfrm>
            <a:off x="6903720" y="3337560"/>
            <a:ext cx="1645920" cy="256032"/>
          </a:xfrm>
          <a:prstGeom prst="rect">
            <a:avLst/>
          </a:prstGeom>
          <a:noFill/>
          <a:ln/>
        </p:spPr>
        <p:txBody>
          <a:bodyPr wrap="square" lIns="0" tIns="0" rIns="0" bIns="0" rtlCol="0" anchor="t"/>
          <a:lstStyle/>
          <a:p>
            <a:pPr indent="0" marL="0">
              <a:buNone/>
            </a:pPr>
            <a:r>
              <a:rPr lang="en-US" sz="1200" b="1" dirty="0">
                <a:solidFill>
                  <a:srgbClr val="2B2B2B"/>
                </a:solidFill>
                <a:latin typeface="Calibri" pitchFamily="34" charset="0"/>
                <a:ea typeface="Calibri" pitchFamily="34" charset="-122"/>
                <a:cs typeface="Calibri" pitchFamily="34" charset="-120"/>
              </a:rPr>
              <a:t>core temperature</a:t>
            </a:r>
            <a:endParaRPr lang="en-US" sz="1200" dirty="0"/>
          </a:p>
        </p:txBody>
      </p:sp>
      <p:sp>
        <p:nvSpPr>
          <p:cNvPr id="28" name="Text 26"/>
          <p:cNvSpPr txBox="1"/>
          <p:nvPr/>
        </p:nvSpPr>
        <p:spPr>
          <a:xfrm>
            <a:off x="6903720" y="3611880"/>
            <a:ext cx="1645920" cy="45720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aluminum heatsink, no fan</a:t>
            </a:r>
            <a:endParaRPr lang="en-US" sz="1100" dirty="0"/>
          </a:p>
        </p:txBody>
      </p:sp>
      <p:sp>
        <p:nvSpPr>
          <p:cNvPr id="29" name="Text 27"/>
          <p:cNvSpPr txBox="1"/>
          <p:nvPr/>
        </p:nvSpPr>
        <p:spPr>
          <a:xfrm>
            <a:off x="457200" y="4279392"/>
            <a:ext cx="8229600" cy="320040"/>
          </a:xfrm>
          <a:prstGeom prst="rect">
            <a:avLst/>
          </a:prstGeom>
          <a:noFill/>
          <a:ln/>
        </p:spPr>
        <p:txBody>
          <a:bodyPr wrap="square" lIns="0" tIns="0" rIns="0" bIns="0" rtlCol="0" anchor="t"/>
          <a:lstStyle/>
          <a:p>
            <a:pPr indent="0" marL="0">
              <a:buNone/>
            </a:pPr>
            <a:r>
              <a:rPr lang="en-US" sz="1300" b="1" dirty="0">
                <a:solidFill>
                  <a:srgbClr val="5E1A2E"/>
                </a:solidFill>
                <a:latin typeface="Calibri" pitchFamily="34" charset="0"/>
                <a:ea typeface="Calibri" pitchFamily="34" charset="-122"/>
                <a:cs typeface="Calibri" pitchFamily="34" charset="-120"/>
              </a:rPr>
              <a:t>INT8 quantization keeps WBC F1 unchanged at 0.98 while cutting model size by 72.7%.</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Point-of-Care Clinical Workflow</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457200" y="1143000"/>
            <a:ext cx="5212080" cy="777240"/>
          </a:xfrm>
          <a:prstGeom prst="roundRect">
            <a:avLst>
              <a:gd name="adj" fmla="val 11765"/>
            </a:avLst>
          </a:prstGeom>
          <a:solidFill>
            <a:srgbClr val="F8EFF1"/>
          </a:solidFill>
          <a:ln w="12700">
            <a:solidFill>
              <a:srgbClr val="F8EFF1"/>
            </a:solidFill>
            <a:prstDash val="solid"/>
          </a:ln>
        </p:spPr>
      </p:sp>
      <p:sp>
        <p:nvSpPr>
          <p:cNvPr id="6" name="Shape 4"/>
          <p:cNvSpPr/>
          <p:nvPr/>
        </p:nvSpPr>
        <p:spPr>
          <a:xfrm>
            <a:off x="621792" y="1325880"/>
            <a:ext cx="411480" cy="411480"/>
          </a:xfrm>
          <a:prstGeom prst="ellipse">
            <a:avLst/>
          </a:prstGeom>
          <a:solidFill>
            <a:srgbClr val="B3243B"/>
          </a:solidFill>
          <a:ln w="12700">
            <a:solidFill>
              <a:srgbClr val="B3243B"/>
            </a:solidFill>
            <a:prstDash val="solid"/>
          </a:ln>
        </p:spPr>
      </p:sp>
      <p:sp>
        <p:nvSpPr>
          <p:cNvPr id="7" name="Text 5"/>
          <p:cNvSpPr txBox="1"/>
          <p:nvPr/>
        </p:nvSpPr>
        <p:spPr>
          <a:xfrm>
            <a:off x="621792" y="13258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34440" y="1216152"/>
            <a:ext cx="4297680" cy="274320"/>
          </a:xfrm>
          <a:prstGeom prst="rect">
            <a:avLst/>
          </a:prstGeom>
          <a:noFill/>
          <a:ln/>
        </p:spPr>
        <p:txBody>
          <a:bodyPr wrap="square" lIns="0" tIns="0" rIns="0" bIns="0" rtlCol="0" anchor="t"/>
          <a:lstStyle/>
          <a:p>
            <a:pPr indent="0" marL="0">
              <a:buNone/>
            </a:pPr>
            <a:r>
              <a:rPr lang="en-US" sz="1350" b="1" dirty="0">
                <a:solidFill>
                  <a:srgbClr val="5E1A2E"/>
                </a:solidFill>
                <a:latin typeface="Calibri" pitchFamily="34" charset="0"/>
                <a:ea typeface="Calibri" pitchFamily="34" charset="-122"/>
                <a:cs typeface="Calibri" pitchFamily="34" charset="-120"/>
              </a:rPr>
              <a:t>Prepare the slide</a:t>
            </a:r>
            <a:endParaRPr lang="en-US" sz="1350" dirty="0"/>
          </a:p>
        </p:txBody>
      </p:sp>
      <p:sp>
        <p:nvSpPr>
          <p:cNvPr id="9" name="Text 7"/>
          <p:cNvSpPr txBox="1"/>
          <p:nvPr/>
        </p:nvSpPr>
        <p:spPr>
          <a:xfrm>
            <a:off x="1234440" y="1508760"/>
            <a:ext cx="4297680" cy="3840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Fingerprick drop, wedge smear, 3-minute field stain or Giemsa dip</a:t>
            </a:r>
            <a:endParaRPr lang="en-US" sz="1200" dirty="0"/>
          </a:p>
        </p:txBody>
      </p:sp>
      <p:sp>
        <p:nvSpPr>
          <p:cNvPr id="10" name="Shape 8"/>
          <p:cNvSpPr/>
          <p:nvPr/>
        </p:nvSpPr>
        <p:spPr>
          <a:xfrm>
            <a:off x="457200" y="2011680"/>
            <a:ext cx="5212080" cy="777240"/>
          </a:xfrm>
          <a:prstGeom prst="roundRect">
            <a:avLst>
              <a:gd name="adj" fmla="val 11765"/>
            </a:avLst>
          </a:prstGeom>
          <a:solidFill>
            <a:srgbClr val="F8EFF1"/>
          </a:solidFill>
          <a:ln w="12700">
            <a:solidFill>
              <a:srgbClr val="F8EFF1"/>
            </a:solidFill>
            <a:prstDash val="solid"/>
          </a:ln>
        </p:spPr>
      </p:sp>
      <p:sp>
        <p:nvSpPr>
          <p:cNvPr id="11" name="Shape 9"/>
          <p:cNvSpPr/>
          <p:nvPr/>
        </p:nvSpPr>
        <p:spPr>
          <a:xfrm>
            <a:off x="621792" y="2194560"/>
            <a:ext cx="411480" cy="411480"/>
          </a:xfrm>
          <a:prstGeom prst="ellipse">
            <a:avLst/>
          </a:prstGeom>
          <a:solidFill>
            <a:srgbClr val="B3243B"/>
          </a:solidFill>
          <a:ln w="12700">
            <a:solidFill>
              <a:srgbClr val="B3243B"/>
            </a:solidFill>
            <a:prstDash val="solid"/>
          </a:ln>
        </p:spPr>
      </p:sp>
      <p:sp>
        <p:nvSpPr>
          <p:cNvPr id="12" name="Text 10"/>
          <p:cNvSpPr txBox="1"/>
          <p:nvPr/>
        </p:nvSpPr>
        <p:spPr>
          <a:xfrm>
            <a:off x="621792" y="21945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234440" y="2084832"/>
            <a:ext cx="4297680" cy="274320"/>
          </a:xfrm>
          <a:prstGeom prst="rect">
            <a:avLst/>
          </a:prstGeom>
          <a:noFill/>
          <a:ln/>
        </p:spPr>
        <p:txBody>
          <a:bodyPr wrap="square" lIns="0" tIns="0" rIns="0" bIns="0" rtlCol="0" anchor="t"/>
          <a:lstStyle/>
          <a:p>
            <a:pPr indent="0" marL="0">
              <a:buNone/>
            </a:pPr>
            <a:r>
              <a:rPr lang="en-US" sz="1350" b="1" dirty="0">
                <a:solidFill>
                  <a:srgbClr val="5E1A2E"/>
                </a:solidFill>
                <a:latin typeface="Calibri" pitchFamily="34" charset="0"/>
                <a:ea typeface="Calibri" pitchFamily="34" charset="-122"/>
                <a:cs typeface="Calibri" pitchFamily="34" charset="-120"/>
              </a:rPr>
              <a:t>Mount and focus</a:t>
            </a:r>
            <a:endParaRPr lang="en-US" sz="1350" dirty="0"/>
          </a:p>
        </p:txBody>
      </p:sp>
      <p:sp>
        <p:nvSpPr>
          <p:cNvPr id="14" name="Text 12"/>
          <p:cNvSpPr txBox="1"/>
          <p:nvPr/>
        </p:nvSpPr>
        <p:spPr>
          <a:xfrm>
            <a:off x="1234440" y="2377440"/>
            <a:ext cx="4297680" cy="3840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Place the slide on the stage and focus under 100× oil immersion</a:t>
            </a:r>
            <a:endParaRPr lang="en-US" sz="1200" dirty="0"/>
          </a:p>
        </p:txBody>
      </p:sp>
      <p:sp>
        <p:nvSpPr>
          <p:cNvPr id="15" name="Shape 13"/>
          <p:cNvSpPr/>
          <p:nvPr/>
        </p:nvSpPr>
        <p:spPr>
          <a:xfrm>
            <a:off x="457200" y="2880360"/>
            <a:ext cx="5212080" cy="777240"/>
          </a:xfrm>
          <a:prstGeom prst="roundRect">
            <a:avLst>
              <a:gd name="adj" fmla="val 11765"/>
            </a:avLst>
          </a:prstGeom>
          <a:solidFill>
            <a:srgbClr val="F8EFF1"/>
          </a:solidFill>
          <a:ln w="12700">
            <a:solidFill>
              <a:srgbClr val="F8EFF1"/>
            </a:solidFill>
            <a:prstDash val="solid"/>
          </a:ln>
        </p:spPr>
      </p:sp>
      <p:sp>
        <p:nvSpPr>
          <p:cNvPr id="16" name="Shape 14"/>
          <p:cNvSpPr/>
          <p:nvPr/>
        </p:nvSpPr>
        <p:spPr>
          <a:xfrm>
            <a:off x="621792" y="3063240"/>
            <a:ext cx="411480" cy="411480"/>
          </a:xfrm>
          <a:prstGeom prst="ellipse">
            <a:avLst/>
          </a:prstGeom>
          <a:solidFill>
            <a:srgbClr val="B3243B"/>
          </a:solidFill>
          <a:ln w="12700">
            <a:solidFill>
              <a:srgbClr val="B3243B"/>
            </a:solidFill>
            <a:prstDash val="solid"/>
          </a:ln>
        </p:spPr>
      </p:sp>
      <p:sp>
        <p:nvSpPr>
          <p:cNvPr id="17" name="Text 15"/>
          <p:cNvSpPr txBox="1"/>
          <p:nvPr/>
        </p:nvSpPr>
        <p:spPr>
          <a:xfrm>
            <a:off x="621792" y="3063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234440" y="2953512"/>
            <a:ext cx="4297680" cy="274320"/>
          </a:xfrm>
          <a:prstGeom prst="rect">
            <a:avLst/>
          </a:prstGeom>
          <a:noFill/>
          <a:ln/>
        </p:spPr>
        <p:txBody>
          <a:bodyPr wrap="square" lIns="0" tIns="0" rIns="0" bIns="0" rtlCol="0" anchor="t"/>
          <a:lstStyle/>
          <a:p>
            <a:pPr indent="0" marL="0">
              <a:buNone/>
            </a:pPr>
            <a:r>
              <a:rPr lang="en-US" sz="1350" b="1" dirty="0">
                <a:solidFill>
                  <a:srgbClr val="5E1A2E"/>
                </a:solidFill>
                <a:latin typeface="Calibri" pitchFamily="34" charset="0"/>
                <a:ea typeface="Calibri" pitchFamily="34" charset="-122"/>
                <a:cs typeface="Calibri" pitchFamily="34" charset="-120"/>
              </a:rPr>
              <a:t>Live view</a:t>
            </a:r>
            <a:endParaRPr lang="en-US" sz="1350" dirty="0"/>
          </a:p>
        </p:txBody>
      </p:sp>
      <p:sp>
        <p:nvSpPr>
          <p:cNvPr id="19" name="Text 17"/>
          <p:cNvSpPr txBox="1"/>
          <p:nvPr/>
        </p:nvSpPr>
        <p:spPr>
          <a:xfrm>
            <a:off x="1234440" y="3246120"/>
            <a:ext cx="4297680" cy="3840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Camera streams a 4.1 FPS viewfinder to a 7-inch touchscreen</a:t>
            </a:r>
            <a:endParaRPr lang="en-US" sz="1200" dirty="0"/>
          </a:p>
        </p:txBody>
      </p:sp>
      <p:sp>
        <p:nvSpPr>
          <p:cNvPr id="20" name="Shape 18"/>
          <p:cNvSpPr/>
          <p:nvPr/>
        </p:nvSpPr>
        <p:spPr>
          <a:xfrm>
            <a:off x="457200" y="3749040"/>
            <a:ext cx="5212080" cy="777240"/>
          </a:xfrm>
          <a:prstGeom prst="roundRect">
            <a:avLst>
              <a:gd name="adj" fmla="val 11765"/>
            </a:avLst>
          </a:prstGeom>
          <a:solidFill>
            <a:srgbClr val="F8EFF1"/>
          </a:solidFill>
          <a:ln w="12700">
            <a:solidFill>
              <a:srgbClr val="F8EFF1"/>
            </a:solidFill>
            <a:prstDash val="solid"/>
          </a:ln>
        </p:spPr>
      </p:sp>
      <p:sp>
        <p:nvSpPr>
          <p:cNvPr id="21" name="Shape 19"/>
          <p:cNvSpPr/>
          <p:nvPr/>
        </p:nvSpPr>
        <p:spPr>
          <a:xfrm>
            <a:off x="621792" y="3931920"/>
            <a:ext cx="411480" cy="411480"/>
          </a:xfrm>
          <a:prstGeom prst="ellipse">
            <a:avLst/>
          </a:prstGeom>
          <a:solidFill>
            <a:srgbClr val="B3243B"/>
          </a:solidFill>
          <a:ln w="12700">
            <a:solidFill>
              <a:srgbClr val="B3243B"/>
            </a:solidFill>
            <a:prstDash val="solid"/>
          </a:ln>
        </p:spPr>
      </p:sp>
      <p:sp>
        <p:nvSpPr>
          <p:cNvPr id="22" name="Text 20"/>
          <p:cNvSpPr txBox="1"/>
          <p:nvPr/>
        </p:nvSpPr>
        <p:spPr>
          <a:xfrm>
            <a:off x="621792" y="39319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1234440" y="3822192"/>
            <a:ext cx="4297680" cy="274320"/>
          </a:xfrm>
          <a:prstGeom prst="rect">
            <a:avLst/>
          </a:prstGeom>
          <a:noFill/>
          <a:ln/>
        </p:spPr>
        <p:txBody>
          <a:bodyPr wrap="square" lIns="0" tIns="0" rIns="0" bIns="0" rtlCol="0" anchor="t"/>
          <a:lstStyle/>
          <a:p>
            <a:pPr indent="0" marL="0">
              <a:buNone/>
            </a:pPr>
            <a:r>
              <a:rPr lang="en-US" sz="1350" b="1" dirty="0">
                <a:solidFill>
                  <a:srgbClr val="5E1A2E"/>
                </a:solidFill>
                <a:latin typeface="Calibri" pitchFamily="34" charset="0"/>
                <a:ea typeface="Calibri" pitchFamily="34" charset="-122"/>
                <a:cs typeface="Calibri" pitchFamily="34" charset="-120"/>
              </a:rPr>
              <a:t>Automated differential count</a:t>
            </a:r>
            <a:endParaRPr lang="en-US" sz="1350" dirty="0"/>
          </a:p>
        </p:txBody>
      </p:sp>
      <p:sp>
        <p:nvSpPr>
          <p:cNvPr id="24" name="Text 22"/>
          <p:cNvSpPr txBox="1"/>
          <p:nvPr/>
        </p:nvSpPr>
        <p:spPr>
          <a:xfrm>
            <a:off x="1234440" y="4114800"/>
            <a:ext cx="4297680" cy="3840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Scan 10 - 20 fields; counts accumulate and abnormal clusters are flagged</a:t>
            </a:r>
            <a:endParaRPr lang="en-US" sz="1200" dirty="0"/>
          </a:p>
        </p:txBody>
      </p:sp>
      <p:sp>
        <p:nvSpPr>
          <p:cNvPr id="25" name="Shape 23"/>
          <p:cNvSpPr/>
          <p:nvPr/>
        </p:nvSpPr>
        <p:spPr>
          <a:xfrm>
            <a:off x="5897880" y="1143000"/>
            <a:ext cx="2788920" cy="3337560"/>
          </a:xfrm>
          <a:prstGeom prst="roundRect">
            <a:avLst>
              <a:gd name="adj" fmla="val 3279"/>
            </a:avLst>
          </a:prstGeom>
          <a:solidFill>
            <a:srgbClr val="5E1A2E"/>
          </a:solidFill>
          <a:ln w="12700">
            <a:solidFill>
              <a:srgbClr val="5E1A2E"/>
            </a:solidFill>
            <a:prstDash val="solid"/>
          </a:ln>
        </p:spPr>
      </p:sp>
      <p:sp>
        <p:nvSpPr>
          <p:cNvPr id="26" name="Text 24"/>
          <p:cNvSpPr txBox="1"/>
          <p:nvPr/>
        </p:nvSpPr>
        <p:spPr>
          <a:xfrm>
            <a:off x="6080760" y="1280160"/>
            <a:ext cx="246888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25 - 35 s</a:t>
            </a:r>
            <a:endParaRPr lang="en-US" sz="3200" dirty="0"/>
          </a:p>
        </p:txBody>
      </p:sp>
      <p:sp>
        <p:nvSpPr>
          <p:cNvPr id="27" name="Text 25"/>
          <p:cNvSpPr txBox="1"/>
          <p:nvPr/>
        </p:nvSpPr>
        <p:spPr>
          <a:xfrm>
            <a:off x="6080760" y="1920240"/>
            <a:ext cx="2468880" cy="457200"/>
          </a:xfrm>
          <a:prstGeom prst="rect">
            <a:avLst/>
          </a:prstGeom>
          <a:noFill/>
          <a:ln/>
        </p:spPr>
        <p:txBody>
          <a:bodyPr wrap="square" lIns="0" tIns="0" rIns="0" bIns="0" rtlCol="0" anchor="t"/>
          <a:lstStyle/>
          <a:p>
            <a:pPr indent="0" marL="0">
              <a:buNone/>
            </a:pPr>
            <a:r>
              <a:rPr lang="en-US" sz="1200" dirty="0">
                <a:solidFill>
                  <a:srgbClr val="F2D7DD"/>
                </a:solidFill>
                <a:latin typeface="Calibri" pitchFamily="34" charset="0"/>
                <a:ea typeface="Calibri" pitchFamily="34" charset="-122"/>
                <a:cs typeface="Calibri" pitchFamily="34" charset="-120"/>
              </a:rPr>
              <a:t>digital triage report per patient</a:t>
            </a:r>
            <a:endParaRPr lang="en-US" sz="1200" dirty="0"/>
          </a:p>
        </p:txBody>
      </p:sp>
      <p:sp>
        <p:nvSpPr>
          <p:cNvPr id="28" name="Text 26"/>
          <p:cNvSpPr txBox="1"/>
          <p:nvPr/>
        </p:nvSpPr>
        <p:spPr>
          <a:xfrm>
            <a:off x="6080760" y="2560320"/>
            <a:ext cx="2468880" cy="274320"/>
          </a:xfrm>
          <a:prstGeom prst="rect">
            <a:avLst/>
          </a:prstGeom>
          <a:noFill/>
          <a:ln/>
        </p:spPr>
        <p:txBody>
          <a:bodyPr wrap="square" lIns="0" tIns="0" rIns="0" bIns="0" rtlCol="0" anchor="t"/>
          <a:lstStyle/>
          <a:p>
            <a:pPr indent="0" marL="0">
              <a:buNone/>
            </a:pPr>
            <a:r>
              <a:rPr lang="en-US" sz="1100" b="1" spc="300" kern="0" dirty="0">
                <a:solidFill>
                  <a:srgbClr val="F2B8C4"/>
                </a:solidFill>
                <a:latin typeface="Calibri" pitchFamily="34" charset="0"/>
                <a:ea typeface="Calibri" pitchFamily="34" charset="-122"/>
                <a:cs typeface="Calibri" pitchFamily="34" charset="-120"/>
              </a:rPr>
              <a:t>TRIAGE BOUNDING</a:t>
            </a:r>
            <a:endParaRPr lang="en-US" sz="1100" dirty="0"/>
          </a:p>
        </p:txBody>
      </p:sp>
      <p:sp>
        <p:nvSpPr>
          <p:cNvPr id="29" name="Text 27"/>
          <p:cNvSpPr txBox="1"/>
          <p:nvPr/>
        </p:nvSpPr>
        <p:spPr>
          <a:xfrm>
            <a:off x="6080760" y="2880360"/>
            <a:ext cx="2468880" cy="1554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Triages acute infections and leukopenia on the spot</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Flags suspicious smears for secondary pathologist review</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5E1A2E"/>
                </a:solidFill>
                <a:latin typeface="Cambria" pitchFamily="34" charset="0"/>
                <a:ea typeface="Cambria" pitchFamily="34" charset="-122"/>
                <a:cs typeface="Cambria" pitchFamily="34" charset="-120"/>
              </a:rPr>
              <a:t>Limitations and Threats to Validity</a:t>
            </a:r>
            <a:endParaRPr lang="en-US" sz="26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6B6B6B"/>
                </a:solidFill>
                <a:latin typeface="Calibri" pitchFamily="34" charset="0"/>
                <a:ea typeface="Calibri" pitchFamily="34" charset="-122"/>
                <a:cs typeface="Calibri" pitchFamily="34" charset="-120"/>
              </a:rPr>
              <a:t>Edge-AI Blood Smear Analysis  |  MIT-WPU DOEEE</a:t>
            </a:r>
            <a:endParaRPr lang="en-US" sz="900" dirty="0"/>
          </a:p>
        </p:txBody>
      </p:sp>
      <p:sp>
        <p:nvSpPr>
          <p:cNvPr id="4" name="Text 2"/>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6B6B6B"/>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457200" y="1188720"/>
            <a:ext cx="4023360" cy="1600200"/>
          </a:xfrm>
          <a:prstGeom prst="roundRect">
            <a:avLst>
              <a:gd name="adj" fmla="val 5714"/>
            </a:avLst>
          </a:prstGeom>
          <a:solidFill>
            <a:srgbClr val="F8EFF1"/>
          </a:solidFill>
          <a:ln w="12700">
            <a:solidFill>
              <a:srgbClr val="F8EFF1"/>
            </a:solidFill>
            <a:prstDash val="solid"/>
          </a:ln>
        </p:spPr>
      </p:sp>
      <p:sp>
        <p:nvSpPr>
          <p:cNvPr id="6" name="Shape 4"/>
          <p:cNvSpPr/>
          <p:nvPr/>
        </p:nvSpPr>
        <p:spPr>
          <a:xfrm>
            <a:off x="658368" y="1389888"/>
            <a:ext cx="365760" cy="365760"/>
          </a:xfrm>
          <a:prstGeom prst="ellipse">
            <a:avLst/>
          </a:prstGeom>
          <a:solidFill>
            <a:srgbClr val="5E1A2E"/>
          </a:solidFill>
          <a:ln w="12700">
            <a:solidFill>
              <a:srgbClr val="5E1A2E"/>
            </a:solidFill>
            <a:prstDash val="solid"/>
          </a:ln>
        </p:spPr>
      </p:sp>
      <p:sp>
        <p:nvSpPr>
          <p:cNvPr id="7" name="Text 5"/>
          <p:cNvSpPr txBox="1"/>
          <p:nvPr/>
        </p:nvSpPr>
        <p:spPr>
          <a:xfrm>
            <a:off x="658368" y="13898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188720" y="1371600"/>
            <a:ext cx="3108960" cy="411480"/>
          </a:xfrm>
          <a:prstGeom prst="rect">
            <a:avLst/>
          </a:prstGeom>
          <a:noFill/>
          <a:ln/>
        </p:spPr>
        <p:txBody>
          <a:bodyPr wrap="square" lIns="0" tIns="0" rIns="0" bIns="0" rtlCol="0" anchor="ctr"/>
          <a:lstStyle/>
          <a:p>
            <a:pPr indent="0" marL="0">
              <a:buNone/>
            </a:pPr>
            <a:r>
              <a:rPr lang="en-US" sz="1450" b="1" dirty="0">
                <a:solidFill>
                  <a:srgbClr val="5E1A2E"/>
                </a:solidFill>
                <a:latin typeface="Calibri" pitchFamily="34" charset="0"/>
                <a:ea typeface="Calibri" pitchFamily="34" charset="-122"/>
                <a:cs typeface="Calibri" pitchFamily="34" charset="-120"/>
              </a:rPr>
              <a:t>Platelet OOD sensitivity</a:t>
            </a:r>
            <a:endParaRPr lang="en-US" sz="1450" dirty="0"/>
          </a:p>
        </p:txBody>
      </p:sp>
      <p:sp>
        <p:nvSpPr>
          <p:cNvPr id="9" name="Text 7"/>
          <p:cNvSpPr txBox="1"/>
          <p:nvPr/>
        </p:nvSpPr>
        <p:spPr>
          <a:xfrm>
            <a:off x="685800" y="1920240"/>
            <a:ext cx="3611880" cy="82296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Cross-center platelet recall requires on-site staining calibration.</a:t>
            </a:r>
            <a:endParaRPr lang="en-US" sz="1250" dirty="0"/>
          </a:p>
        </p:txBody>
      </p:sp>
      <p:sp>
        <p:nvSpPr>
          <p:cNvPr id="10" name="Shape 8"/>
          <p:cNvSpPr/>
          <p:nvPr/>
        </p:nvSpPr>
        <p:spPr>
          <a:xfrm>
            <a:off x="4663440" y="1188720"/>
            <a:ext cx="4023360" cy="1600200"/>
          </a:xfrm>
          <a:prstGeom prst="roundRect">
            <a:avLst>
              <a:gd name="adj" fmla="val 5714"/>
            </a:avLst>
          </a:prstGeom>
          <a:solidFill>
            <a:srgbClr val="E6F3F4"/>
          </a:solidFill>
          <a:ln w="12700">
            <a:solidFill>
              <a:srgbClr val="E6F3F4"/>
            </a:solidFill>
            <a:prstDash val="solid"/>
          </a:ln>
        </p:spPr>
      </p:sp>
      <p:sp>
        <p:nvSpPr>
          <p:cNvPr id="11" name="Shape 9"/>
          <p:cNvSpPr/>
          <p:nvPr/>
        </p:nvSpPr>
        <p:spPr>
          <a:xfrm>
            <a:off x="4864608" y="1389888"/>
            <a:ext cx="365760" cy="365760"/>
          </a:xfrm>
          <a:prstGeom prst="ellipse">
            <a:avLst/>
          </a:prstGeom>
          <a:solidFill>
            <a:srgbClr val="5E1A2E"/>
          </a:solidFill>
          <a:ln w="12700">
            <a:solidFill>
              <a:srgbClr val="5E1A2E"/>
            </a:solidFill>
            <a:prstDash val="solid"/>
          </a:ln>
        </p:spPr>
      </p:sp>
      <p:sp>
        <p:nvSpPr>
          <p:cNvPr id="12" name="Text 10"/>
          <p:cNvSpPr txBox="1"/>
          <p:nvPr/>
        </p:nvSpPr>
        <p:spPr>
          <a:xfrm>
            <a:off x="4864608" y="13898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5394960" y="1371600"/>
            <a:ext cx="3108960" cy="411480"/>
          </a:xfrm>
          <a:prstGeom prst="rect">
            <a:avLst/>
          </a:prstGeom>
          <a:noFill/>
          <a:ln/>
        </p:spPr>
        <p:txBody>
          <a:bodyPr wrap="square" lIns="0" tIns="0" rIns="0" bIns="0" rtlCol="0" anchor="ctr"/>
          <a:lstStyle/>
          <a:p>
            <a:pPr indent="0" marL="0">
              <a:buNone/>
            </a:pPr>
            <a:r>
              <a:rPr lang="en-US" sz="1450" b="1" dirty="0">
                <a:solidFill>
                  <a:srgbClr val="5E1A2E"/>
                </a:solidFill>
                <a:latin typeface="Calibri" pitchFamily="34" charset="0"/>
                <a:ea typeface="Calibri" pitchFamily="34" charset="-122"/>
                <a:cs typeface="Calibri" pitchFamily="34" charset="-120"/>
              </a:rPr>
              <a:t>Erythrocyte overlap</a:t>
            </a:r>
            <a:endParaRPr lang="en-US" sz="1450" dirty="0"/>
          </a:p>
        </p:txBody>
      </p:sp>
      <p:sp>
        <p:nvSpPr>
          <p:cNvPr id="14" name="Text 12"/>
          <p:cNvSpPr txBox="1"/>
          <p:nvPr/>
        </p:nvSpPr>
        <p:spPr>
          <a:xfrm>
            <a:off x="4892040" y="1920240"/>
            <a:ext cx="3611880" cy="82296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Bounding boxes overcount overlapping RBCs; contour watershed segmentation is needed for precise hematocrit estimation.</a:t>
            </a:r>
            <a:endParaRPr lang="en-US" sz="1250" dirty="0"/>
          </a:p>
        </p:txBody>
      </p:sp>
      <p:sp>
        <p:nvSpPr>
          <p:cNvPr id="15" name="Shape 13"/>
          <p:cNvSpPr/>
          <p:nvPr/>
        </p:nvSpPr>
        <p:spPr>
          <a:xfrm>
            <a:off x="457200" y="2971800"/>
            <a:ext cx="4023360" cy="1600200"/>
          </a:xfrm>
          <a:prstGeom prst="roundRect">
            <a:avLst>
              <a:gd name="adj" fmla="val 5714"/>
            </a:avLst>
          </a:prstGeom>
          <a:solidFill>
            <a:srgbClr val="E6F3F4"/>
          </a:solidFill>
          <a:ln w="12700">
            <a:solidFill>
              <a:srgbClr val="E6F3F4"/>
            </a:solidFill>
            <a:prstDash val="solid"/>
          </a:ln>
        </p:spPr>
      </p:sp>
      <p:sp>
        <p:nvSpPr>
          <p:cNvPr id="16" name="Shape 14"/>
          <p:cNvSpPr/>
          <p:nvPr/>
        </p:nvSpPr>
        <p:spPr>
          <a:xfrm>
            <a:off x="658368" y="3172968"/>
            <a:ext cx="365760" cy="365760"/>
          </a:xfrm>
          <a:prstGeom prst="ellipse">
            <a:avLst/>
          </a:prstGeom>
          <a:solidFill>
            <a:srgbClr val="5E1A2E"/>
          </a:solidFill>
          <a:ln w="12700">
            <a:solidFill>
              <a:srgbClr val="5E1A2E"/>
            </a:solidFill>
            <a:prstDash val="solid"/>
          </a:ln>
        </p:spPr>
      </p:sp>
      <p:sp>
        <p:nvSpPr>
          <p:cNvPr id="17" name="Text 15"/>
          <p:cNvSpPr txBox="1"/>
          <p:nvPr/>
        </p:nvSpPr>
        <p:spPr>
          <a:xfrm>
            <a:off x="658368" y="317296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188720" y="3154680"/>
            <a:ext cx="3108960" cy="411480"/>
          </a:xfrm>
          <a:prstGeom prst="rect">
            <a:avLst/>
          </a:prstGeom>
          <a:noFill/>
          <a:ln/>
        </p:spPr>
        <p:txBody>
          <a:bodyPr wrap="square" lIns="0" tIns="0" rIns="0" bIns="0" rtlCol="0" anchor="ctr"/>
          <a:lstStyle/>
          <a:p>
            <a:pPr indent="0" marL="0">
              <a:buNone/>
            </a:pPr>
            <a:r>
              <a:rPr lang="en-US" sz="1450" b="1" dirty="0">
                <a:solidFill>
                  <a:srgbClr val="5E1A2E"/>
                </a:solidFill>
                <a:latin typeface="Calibri" pitchFamily="34" charset="0"/>
                <a:ea typeface="Calibri" pitchFamily="34" charset="-122"/>
                <a:cs typeface="Calibri" pitchFamily="34" charset="-120"/>
              </a:rPr>
              <a:t>3-class, not 5-part differential</a:t>
            </a:r>
            <a:endParaRPr lang="en-US" sz="1450" dirty="0"/>
          </a:p>
        </p:txBody>
      </p:sp>
      <p:sp>
        <p:nvSpPr>
          <p:cNvPr id="19" name="Text 17"/>
          <p:cNvSpPr txBox="1"/>
          <p:nvPr/>
        </p:nvSpPr>
        <p:spPr>
          <a:xfrm>
            <a:off x="685800" y="3703320"/>
            <a:ext cx="3611880" cy="82296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The system detects general WBCs; splitting into neutrophils, lymphocytes, monocytes, eosinophils and basophils needs higher optical resolution.</a:t>
            </a:r>
            <a:endParaRPr lang="en-US" sz="1250" dirty="0"/>
          </a:p>
        </p:txBody>
      </p:sp>
      <p:sp>
        <p:nvSpPr>
          <p:cNvPr id="20" name="Shape 18"/>
          <p:cNvSpPr/>
          <p:nvPr/>
        </p:nvSpPr>
        <p:spPr>
          <a:xfrm>
            <a:off x="4663440" y="2971800"/>
            <a:ext cx="4023360" cy="1600200"/>
          </a:xfrm>
          <a:prstGeom prst="roundRect">
            <a:avLst>
              <a:gd name="adj" fmla="val 5714"/>
            </a:avLst>
          </a:prstGeom>
          <a:solidFill>
            <a:srgbClr val="F8EFF1"/>
          </a:solidFill>
          <a:ln w="12700">
            <a:solidFill>
              <a:srgbClr val="F8EFF1"/>
            </a:solidFill>
            <a:prstDash val="solid"/>
          </a:ln>
        </p:spPr>
      </p:sp>
      <p:sp>
        <p:nvSpPr>
          <p:cNvPr id="21" name="Shape 19"/>
          <p:cNvSpPr/>
          <p:nvPr/>
        </p:nvSpPr>
        <p:spPr>
          <a:xfrm>
            <a:off x="4864608" y="3172968"/>
            <a:ext cx="365760" cy="365760"/>
          </a:xfrm>
          <a:prstGeom prst="ellipse">
            <a:avLst/>
          </a:prstGeom>
          <a:solidFill>
            <a:srgbClr val="5E1A2E"/>
          </a:solidFill>
          <a:ln w="12700">
            <a:solidFill>
              <a:srgbClr val="5E1A2E"/>
            </a:solidFill>
            <a:prstDash val="solid"/>
          </a:ln>
        </p:spPr>
      </p:sp>
      <p:sp>
        <p:nvSpPr>
          <p:cNvPr id="22" name="Text 20"/>
          <p:cNvSpPr txBox="1"/>
          <p:nvPr/>
        </p:nvSpPr>
        <p:spPr>
          <a:xfrm>
            <a:off x="4864608" y="317296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5394960" y="3154680"/>
            <a:ext cx="3108960" cy="411480"/>
          </a:xfrm>
          <a:prstGeom prst="rect">
            <a:avLst/>
          </a:prstGeom>
          <a:noFill/>
          <a:ln/>
        </p:spPr>
        <p:txBody>
          <a:bodyPr wrap="square" lIns="0" tIns="0" rIns="0" bIns="0" rtlCol="0" anchor="ctr"/>
          <a:lstStyle/>
          <a:p>
            <a:pPr indent="0" marL="0">
              <a:buNone/>
            </a:pPr>
            <a:r>
              <a:rPr lang="en-US" sz="1450" b="1" dirty="0">
                <a:solidFill>
                  <a:srgbClr val="5E1A2E"/>
                </a:solidFill>
                <a:latin typeface="Calibri" pitchFamily="34" charset="0"/>
                <a:ea typeface="Calibri" pitchFamily="34" charset="-122"/>
                <a:cs typeface="Calibri" pitchFamily="34" charset="-120"/>
              </a:rPr>
              <a:t>Validation cohort size</a:t>
            </a:r>
            <a:endParaRPr lang="en-US" sz="1450" dirty="0"/>
          </a:p>
        </p:txBody>
      </p:sp>
      <p:sp>
        <p:nvSpPr>
          <p:cNvPr id="24" name="Text 22"/>
          <p:cNvSpPr txBox="1"/>
          <p:nvPr/>
        </p:nvSpPr>
        <p:spPr>
          <a:xfrm>
            <a:off x="4892040" y="3703320"/>
            <a:ext cx="3611880" cy="82296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The clinical split (n = 72) is single-center archival slides; multi-center trials are planned.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E1A2E"/>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Conclusion and Future Roadmap</a:t>
            </a:r>
            <a:endParaRPr lang="en-US" sz="2600" dirty="0"/>
          </a:p>
        </p:txBody>
      </p:sp>
      <p:sp>
        <p:nvSpPr>
          <p:cNvPr id="4" name="Text 1"/>
          <p:cNvSpPr txBox="1"/>
          <p:nvPr/>
        </p:nvSpPr>
        <p:spPr>
          <a:xfrm>
            <a:off x="457200" y="1143000"/>
            <a:ext cx="4023360" cy="274320"/>
          </a:xfrm>
          <a:prstGeom prst="rect">
            <a:avLst/>
          </a:prstGeom>
          <a:noFill/>
          <a:ln/>
        </p:spPr>
        <p:txBody>
          <a:bodyPr wrap="square" lIns="0" tIns="0" rIns="0" bIns="0" rtlCol="0" anchor="t"/>
          <a:lstStyle/>
          <a:p>
            <a:pPr indent="0" marL="0">
              <a:buNone/>
            </a:pPr>
            <a:r>
              <a:rPr lang="en-US" sz="1100" b="1" spc="300" kern="0" dirty="0">
                <a:solidFill>
                  <a:srgbClr val="F2B8C4"/>
                </a:solidFill>
                <a:latin typeface="Calibri" pitchFamily="34" charset="0"/>
                <a:ea typeface="Calibri" pitchFamily="34" charset="-122"/>
                <a:cs typeface="Calibri" pitchFamily="34" charset="-120"/>
              </a:rPr>
              <a:t>CONTRIBUTIONS DELIVERED</a:t>
            </a:r>
            <a:endParaRPr lang="en-US" sz="1100" dirty="0"/>
          </a:p>
        </p:txBody>
      </p:sp>
      <p:sp>
        <p:nvSpPr>
          <p:cNvPr id="5" name="Text 2"/>
          <p:cNvSpPr txBox="1"/>
          <p:nvPr/>
        </p:nvSpPr>
        <p:spPr>
          <a:xfrm>
            <a:off x="457200" y="1463040"/>
            <a:ext cx="4023360" cy="27432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A functional $275 Edge-AI cytological screening station</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INT8-quantized YOLOv8n at 4.1 FPS on a 3.4 W Raspberry Pi 4</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Edge hematology evaluated against CLSI EP09-A3 clinical standards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Ablation linking Reinhard stain normalization to lineage thresholds</a:t>
            </a:r>
            <a:endParaRPr lang="en-US" sz="1400" dirty="0"/>
          </a:p>
        </p:txBody>
      </p:sp>
      <p:sp>
        <p:nvSpPr>
          <p:cNvPr id="6" name="Shape 3"/>
          <p:cNvSpPr/>
          <p:nvPr/>
        </p:nvSpPr>
        <p:spPr>
          <a:xfrm>
            <a:off x="4754880" y="1143000"/>
            <a:ext cx="3931920" cy="3291840"/>
          </a:xfrm>
          <a:prstGeom prst="roundRect">
            <a:avLst>
              <a:gd name="adj" fmla="val 2778"/>
            </a:avLst>
          </a:prstGeom>
          <a:solidFill>
            <a:srgbClr val="7D2A40"/>
          </a:solidFill>
          <a:ln w="12700">
            <a:solidFill>
              <a:srgbClr val="7D2A40"/>
            </a:solidFill>
            <a:prstDash val="solid"/>
          </a:ln>
        </p:spPr>
      </p:sp>
      <p:sp>
        <p:nvSpPr>
          <p:cNvPr id="7" name="Text 4"/>
          <p:cNvSpPr txBox="1"/>
          <p:nvPr/>
        </p:nvSpPr>
        <p:spPr>
          <a:xfrm>
            <a:off x="4983480" y="1280160"/>
            <a:ext cx="3474720" cy="274320"/>
          </a:xfrm>
          <a:prstGeom prst="rect">
            <a:avLst/>
          </a:prstGeom>
          <a:noFill/>
          <a:ln/>
        </p:spPr>
        <p:txBody>
          <a:bodyPr wrap="square" lIns="0" tIns="0" rIns="0" bIns="0" rtlCol="0" anchor="t"/>
          <a:lstStyle/>
          <a:p>
            <a:pPr indent="0" marL="0">
              <a:buNone/>
            </a:pPr>
            <a:r>
              <a:rPr lang="en-US" sz="1100" b="1" spc="300" kern="0" dirty="0">
                <a:solidFill>
                  <a:srgbClr val="F2B8C4"/>
                </a:solidFill>
                <a:latin typeface="Calibri" pitchFamily="34" charset="0"/>
                <a:ea typeface="Calibri" pitchFamily="34" charset="-122"/>
                <a:cs typeface="Calibri" pitchFamily="34" charset="-120"/>
              </a:rPr>
              <a:t>NEXT STEPS</a:t>
            </a:r>
            <a:endParaRPr lang="en-US" sz="1100" dirty="0"/>
          </a:p>
        </p:txBody>
      </p:sp>
      <p:sp>
        <p:nvSpPr>
          <p:cNvPr id="8" name="Text 5"/>
          <p:cNvSpPr txBox="1"/>
          <p:nvPr/>
        </p:nvSpPr>
        <p:spPr>
          <a:xfrm>
            <a:off x="4983480" y="1645920"/>
            <a:ext cx="3474720" cy="26517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Automated 5-part leukocyte differential model</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Motorized 3D-printed stage with stepper motors for automated serpentine slide scanning</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Direct area-density regression for precise red blood cell enumeration</a:t>
            </a:r>
            <a:endParaRPr lang="en-US" sz="1400" dirty="0"/>
          </a:p>
        </p:txBody>
      </p:sp>
      <p:sp>
        <p:nvSpPr>
          <p:cNvPr id="9" name="Text 6"/>
          <p:cNvSpPr txBox="1"/>
          <p:nvPr/>
        </p:nvSpPr>
        <p:spPr>
          <a:xfrm>
            <a:off x="7772400" y="4828032"/>
            <a:ext cx="914400" cy="201168"/>
          </a:xfrm>
          <a:prstGeom prst="rect">
            <a:avLst/>
          </a:prstGeom>
          <a:noFill/>
          <a:ln/>
        </p:spPr>
        <p:txBody>
          <a:bodyPr wrap="square" lIns="0" tIns="0" rIns="0" bIns="0" rtlCol="0" anchor="t"/>
          <a:lstStyle/>
          <a:p>
            <a:pPr algn="r" indent="0" marL="0">
              <a:buNone/>
            </a:pPr>
            <a:r>
              <a:rPr lang="en-US" sz="900" dirty="0">
                <a:solidFill>
                  <a:srgbClr val="F2B8C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E1A2E"/>
        </a:solidFill>
      </p:bgPr>
    </p:bg>
    <p:spTree>
      <p:nvGrpSpPr>
        <p:cNvPr id="1" name=""/>
        <p:cNvGrpSpPr/>
        <p:nvPr/>
      </p:nvGrpSpPr>
      <p:grpSpPr>
        <a:xfrm>
          <a:off x="0" y="0"/>
          <a:ext cx="0" cy="0"/>
          <a:chOff x="0" y="0"/>
          <a:chExt cx="0" cy="0"/>
        </a:xfrm>
      </p:grpSpPr>
      <p:sp>
        <p:nvSpPr>
          <p:cNvPr id="2" name="Shape 0"/>
          <p:cNvSpPr/>
          <p:nvPr/>
        </p:nvSpPr>
        <p:spPr>
          <a:xfrm>
            <a:off x="6309360" y="457200"/>
            <a:ext cx="2194560" cy="2194560"/>
          </a:xfrm>
          <a:prstGeom prst="ellipse">
            <a:avLst/>
          </a:prstGeom>
          <a:solidFill>
            <a:srgbClr val="C9506A">
              <a:alpha val="20000"/>
            </a:srgbClr>
          </a:solidFill>
          <a:ln w="12700">
            <a:solidFill>
              <a:srgbClr val="E58AA0">
                <a:alpha val="40000"/>
              </a:srgbClr>
            </a:solidFill>
            <a:prstDash val="solid"/>
          </a:ln>
        </p:spPr>
      </p:sp>
      <p:sp>
        <p:nvSpPr>
          <p:cNvPr id="3" name="Shape 1"/>
          <p:cNvSpPr/>
          <p:nvPr/>
        </p:nvSpPr>
        <p:spPr>
          <a:xfrm>
            <a:off x="6967728" y="1115568"/>
            <a:ext cx="877824" cy="877824"/>
          </a:xfrm>
          <a:prstGeom prst="ellipse">
            <a:avLst/>
          </a:prstGeom>
          <a:solidFill>
            <a:srgbClr val="7D2A40">
              <a:alpha val="60000"/>
            </a:srgbClr>
          </a:solidFill>
          <a:ln w="12700">
            <a:solidFill>
              <a:srgbClr val="7D2A40">
                <a:alpha val="0"/>
              </a:srgbClr>
            </a:solidFill>
            <a:prstDash val="solid"/>
          </a:ln>
        </p:spPr>
      </p:sp>
      <p:sp>
        <p:nvSpPr>
          <p:cNvPr id="4" name="Shape 2"/>
          <p:cNvSpPr/>
          <p:nvPr/>
        </p:nvSpPr>
        <p:spPr>
          <a:xfrm>
            <a:off x="7498080" y="2103120"/>
            <a:ext cx="1737360" cy="1737360"/>
          </a:xfrm>
          <a:prstGeom prst="ellipse">
            <a:avLst/>
          </a:prstGeom>
          <a:solidFill>
            <a:srgbClr val="B3243B">
              <a:alpha val="20000"/>
            </a:srgbClr>
          </a:solidFill>
          <a:ln w="12700">
            <a:solidFill>
              <a:srgbClr val="E58AA0">
                <a:alpha val="40000"/>
              </a:srgbClr>
            </a:solidFill>
            <a:prstDash val="solid"/>
          </a:ln>
        </p:spPr>
      </p:sp>
      <p:sp>
        <p:nvSpPr>
          <p:cNvPr id="5" name="Shape 3"/>
          <p:cNvSpPr/>
          <p:nvPr/>
        </p:nvSpPr>
        <p:spPr>
          <a:xfrm>
            <a:off x="8019288" y="2624328"/>
            <a:ext cx="694944" cy="694944"/>
          </a:xfrm>
          <a:prstGeom prst="ellipse">
            <a:avLst/>
          </a:prstGeom>
          <a:solidFill>
            <a:srgbClr val="7D2A40">
              <a:alpha val="60000"/>
            </a:srgbClr>
          </a:solidFill>
          <a:ln w="12700">
            <a:solidFill>
              <a:srgbClr val="7D2A40">
                <a:alpha val="0"/>
              </a:srgbClr>
            </a:solidFill>
            <a:prstDash val="solid"/>
          </a:ln>
        </p:spPr>
      </p:sp>
      <p:sp>
        <p:nvSpPr>
          <p:cNvPr id="6" name="Shape 4"/>
          <p:cNvSpPr/>
          <p:nvPr/>
        </p:nvSpPr>
        <p:spPr>
          <a:xfrm>
            <a:off x="5669280" y="3017520"/>
            <a:ext cx="2377440" cy="2377440"/>
          </a:xfrm>
          <a:prstGeom prst="ellipse">
            <a:avLst/>
          </a:prstGeom>
          <a:solidFill>
            <a:srgbClr val="C9506A">
              <a:alpha val="20000"/>
            </a:srgbClr>
          </a:solidFill>
          <a:ln w="12700">
            <a:solidFill>
              <a:srgbClr val="E58AA0">
                <a:alpha val="40000"/>
              </a:srgbClr>
            </a:solidFill>
            <a:prstDash val="solid"/>
          </a:ln>
        </p:spPr>
      </p:sp>
      <p:sp>
        <p:nvSpPr>
          <p:cNvPr id="7" name="Shape 5"/>
          <p:cNvSpPr/>
          <p:nvPr/>
        </p:nvSpPr>
        <p:spPr>
          <a:xfrm>
            <a:off x="6382512" y="3730752"/>
            <a:ext cx="950976" cy="950976"/>
          </a:xfrm>
          <a:prstGeom prst="ellipse">
            <a:avLst/>
          </a:prstGeom>
          <a:solidFill>
            <a:srgbClr val="7D2A40">
              <a:alpha val="60000"/>
            </a:srgbClr>
          </a:solidFill>
          <a:ln w="12700">
            <a:solidFill>
              <a:srgbClr val="7D2A40">
                <a:alpha val="0"/>
              </a:srgbClr>
            </a:solidFill>
            <a:prstDash val="solid"/>
          </a:ln>
        </p:spPr>
      </p:sp>
      <p:sp>
        <p:nvSpPr>
          <p:cNvPr id="8" name="Shape 6"/>
          <p:cNvSpPr/>
          <p:nvPr/>
        </p:nvSpPr>
        <p:spPr>
          <a:xfrm>
            <a:off x="7863840" y="4023360"/>
            <a:ext cx="1280160" cy="1280160"/>
          </a:xfrm>
          <a:prstGeom prst="ellipse">
            <a:avLst/>
          </a:prstGeom>
          <a:solidFill>
            <a:srgbClr val="B3243B">
              <a:alpha val="20000"/>
            </a:srgbClr>
          </a:solidFill>
          <a:ln w="12700">
            <a:solidFill>
              <a:srgbClr val="E58AA0">
                <a:alpha val="40000"/>
              </a:srgbClr>
            </a:solidFill>
            <a:prstDash val="solid"/>
          </a:ln>
        </p:spPr>
      </p:sp>
      <p:sp>
        <p:nvSpPr>
          <p:cNvPr id="9" name="Shape 7"/>
          <p:cNvSpPr/>
          <p:nvPr/>
        </p:nvSpPr>
        <p:spPr>
          <a:xfrm>
            <a:off x="8247888" y="4407408"/>
            <a:ext cx="512064" cy="512064"/>
          </a:xfrm>
          <a:prstGeom prst="ellipse">
            <a:avLst/>
          </a:prstGeom>
          <a:solidFill>
            <a:srgbClr val="7D2A40">
              <a:alpha val="60000"/>
            </a:srgbClr>
          </a:solidFill>
          <a:ln w="12700">
            <a:solidFill>
              <a:srgbClr val="7D2A40">
                <a:alpha val="0"/>
              </a:srgbClr>
            </a:solidFill>
            <a:prstDash val="solid"/>
          </a:ln>
        </p:spPr>
      </p:sp>
      <p:sp>
        <p:nvSpPr>
          <p:cNvPr id="10" name="Shape 8"/>
          <p:cNvSpPr/>
          <p:nvPr/>
        </p:nvSpPr>
        <p:spPr>
          <a:xfrm>
            <a:off x="6675120" y="1554480"/>
            <a:ext cx="914400" cy="914400"/>
          </a:xfrm>
          <a:prstGeom prst="ellipse">
            <a:avLst/>
          </a:prstGeom>
          <a:solidFill>
            <a:srgbClr val="C9506A">
              <a:alpha val="20000"/>
            </a:srgbClr>
          </a:solidFill>
          <a:ln w="12700">
            <a:solidFill>
              <a:srgbClr val="E58AA0">
                <a:alpha val="40000"/>
              </a:srgbClr>
            </a:solidFill>
            <a:prstDash val="solid"/>
          </a:ln>
        </p:spPr>
      </p:sp>
      <p:sp>
        <p:nvSpPr>
          <p:cNvPr id="11" name="Shape 9"/>
          <p:cNvSpPr/>
          <p:nvPr/>
        </p:nvSpPr>
        <p:spPr>
          <a:xfrm>
            <a:off x="6949440" y="1828800"/>
            <a:ext cx="365760" cy="365760"/>
          </a:xfrm>
          <a:prstGeom prst="ellipse">
            <a:avLst/>
          </a:prstGeom>
          <a:solidFill>
            <a:srgbClr val="7D2A40">
              <a:alpha val="60000"/>
            </a:srgbClr>
          </a:solidFill>
          <a:ln w="12700">
            <a:solidFill>
              <a:srgbClr val="7D2A40">
                <a:alpha val="0"/>
              </a:srgbClr>
            </a:solidFill>
            <a:prstDash val="solid"/>
          </a:ln>
        </p:spPr>
      </p:sp>
      <p:sp>
        <p:nvSpPr>
          <p:cNvPr id="12" name="Text 10"/>
          <p:cNvSpPr txBox="1"/>
          <p:nvPr/>
        </p:nvSpPr>
        <p:spPr>
          <a:xfrm>
            <a:off x="548640" y="1371600"/>
            <a:ext cx="54864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13" name="Text 11"/>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1600" dirty="0">
                <a:solidFill>
                  <a:srgbClr val="F2D7DD"/>
                </a:solidFill>
                <a:latin typeface="Calibri" pitchFamily="34" charset="0"/>
                <a:ea typeface="Calibri" pitchFamily="34" charset="-122"/>
                <a:cs typeface="Calibri" pitchFamily="34" charset="-120"/>
              </a:rPr>
              <a:t>Open for questions from Dr. Anagha Deshpande and the evaluation committee.</a:t>
            </a:r>
            <a:endParaRPr lang="en-US" sz="1600" dirty="0"/>
          </a:p>
        </p:txBody>
      </p:sp>
      <p:sp>
        <p:nvSpPr>
          <p:cNvPr id="14" name="Text 12"/>
          <p:cNvSpPr txBox="1"/>
          <p:nvPr/>
        </p:nvSpPr>
        <p:spPr>
          <a:xfrm>
            <a:off x="548640" y="3749040"/>
            <a:ext cx="5669280" cy="6400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Shreyash Dhoot  |  Abhishek Karad  |  Pranav Lute  |  Prince Gupta</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DOEEE, MIT World Peace University, Pune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Edge-AI Automated Peripheral Blood Smear Analysis</dc:title>
  <dc:subject>PptxGenJS Presentation</dc:subject>
  <dc:creator>Shreyash Dhoot, Abhishek Karad, Pranav Lute, Prince Gupta</dc:creator>
  <cp:lastModifiedBy>Shreyash Dhoot, Abhishek Karad, Pranav Lute, Prince Gupta</cp:lastModifiedBy>
  <cp:revision>1</cp:revision>
  <dcterms:created xsi:type="dcterms:W3CDTF">2026-09-29T07:56:22Z</dcterms:created>
  <dcterms:modified xsi:type="dcterms:W3CDTF">2026-09-29T07:56:22Z</dcterms:modified>
</cp:coreProperties>
</file>